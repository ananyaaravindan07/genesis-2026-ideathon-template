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libri (MS) Bold" charset="1" panose="020F0702030404030204"/>
      <p:regular r:id="rId18"/>
    </p:embeddedFont>
    <p:embeddedFont>
      <p:font typeface="Cambria Bold" charset="1" panose="02040803050406030204"/>
      <p:regular r:id="rId19"/>
    </p:embeddedFont>
    <p:embeddedFont>
      <p:font typeface="Calibri (MS)" charset="1" panose="020F050202020403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26" Target="notesSlides/notesSlide7.xml" Type="http://schemas.openxmlformats.org/officeDocument/2006/relationships/notesSlide"/><Relationship Id="rId27" Target="notesSlides/notesSlide8.xml" Type="http://schemas.openxmlformats.org/officeDocument/2006/relationships/notesSlide"/><Relationship Id="rId28"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png" Type="http://schemas.openxmlformats.org/officeDocument/2006/relationships/image"/><Relationship Id="rId4" Target="../media/image1.jpe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2B35"/>
        </a:solidFill>
      </p:bgPr>
    </p:bg>
    <p:spTree>
      <p:nvGrpSpPr>
        <p:cNvPr id="1" name=""/>
        <p:cNvGrpSpPr/>
        <p:nvPr/>
      </p:nvGrpSpPr>
      <p:grpSpPr>
        <a:xfrm>
          <a:off x="0" y="0"/>
          <a:ext cx="0" cy="0"/>
          <a:chOff x="0" y="0"/>
          <a:chExt cx="0" cy="0"/>
        </a:xfrm>
      </p:grpSpPr>
      <p:grpSp>
        <p:nvGrpSpPr>
          <p:cNvPr name="Group 2" id="2"/>
          <p:cNvGrpSpPr/>
          <p:nvPr/>
        </p:nvGrpSpPr>
        <p:grpSpPr>
          <a:xfrm rot="5400000">
            <a:off x="13250475" y="-1845697"/>
            <a:ext cx="5567067" cy="4824412"/>
            <a:chOff x="0" y="0"/>
            <a:chExt cx="7422756" cy="6432550"/>
          </a:xfrm>
        </p:grpSpPr>
        <p:sp>
          <p:nvSpPr>
            <p:cNvPr name="Freeform 3" id="3"/>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4" id="4"/>
          <p:cNvGrpSpPr/>
          <p:nvPr/>
        </p:nvGrpSpPr>
        <p:grpSpPr>
          <a:xfrm rot="5400000">
            <a:off x="15774219" y="2525554"/>
            <a:ext cx="5567067" cy="4824412"/>
            <a:chOff x="0" y="0"/>
            <a:chExt cx="7422756" cy="6432550"/>
          </a:xfrm>
        </p:grpSpPr>
        <p:sp>
          <p:nvSpPr>
            <p:cNvPr name="Freeform 5" id="5"/>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solidFill>
              <a:srgbClr val="026855">
                <a:alpha val="5882"/>
              </a:srgbClr>
            </a:solidFill>
            <a:ln w="23812" cap="sq">
              <a:solidFill>
                <a:srgbClr val="4FA278"/>
              </a:solidFill>
              <a:prstDash val="solid"/>
              <a:miter/>
            </a:ln>
          </p:spPr>
        </p:sp>
      </p:grpSp>
      <p:grpSp>
        <p:nvGrpSpPr>
          <p:cNvPr name="Group 6" id="6"/>
          <p:cNvGrpSpPr/>
          <p:nvPr/>
        </p:nvGrpSpPr>
        <p:grpSpPr>
          <a:xfrm rot="5400000">
            <a:off x="13250475" y="6896805"/>
            <a:ext cx="5567067" cy="4824412"/>
            <a:chOff x="0" y="0"/>
            <a:chExt cx="7422756" cy="6432550"/>
          </a:xfrm>
        </p:grpSpPr>
        <p:sp>
          <p:nvSpPr>
            <p:cNvPr name="Freeform 7" id="7"/>
            <p:cNvSpPr/>
            <p:nvPr/>
          </p:nvSpPr>
          <p:spPr>
            <a:xfrm flipH="false" flipV="false" rot="0">
              <a:off x="0" y="0"/>
              <a:ext cx="7422769" cy="6432550"/>
            </a:xfrm>
            <a:custGeom>
              <a:avLst/>
              <a:gdLst/>
              <a:ahLst/>
              <a:cxnLst/>
              <a:rect r="r" b="b" t="t" l="l"/>
              <a:pathLst>
                <a:path h="6432550" w="7422769">
                  <a:moveTo>
                    <a:pt x="0" y="3216275"/>
                  </a:moveTo>
                  <a:lnTo>
                    <a:pt x="1608074" y="0"/>
                  </a:lnTo>
                  <a:lnTo>
                    <a:pt x="5814568" y="0"/>
                  </a:lnTo>
                  <a:lnTo>
                    <a:pt x="7422769" y="3216275"/>
                  </a:lnTo>
                  <a:lnTo>
                    <a:pt x="5814568" y="6432550"/>
                  </a:lnTo>
                  <a:lnTo>
                    <a:pt x="1608074" y="6432550"/>
                  </a:lnTo>
                  <a:close/>
                </a:path>
              </a:pathLst>
            </a:custGeom>
            <a:blipFill>
              <a:blip r:embed="rId3">
                <a:alphaModFix amt="0"/>
              </a:blip>
              <a:stretch>
                <a:fillRect l="-61187" t="0" r="-61187" b="0"/>
              </a:stretch>
            </a:blipFill>
            <a:ln w="23812" cap="sq">
              <a:solidFill>
                <a:srgbClr val="4FA278"/>
              </a:solidFill>
              <a:prstDash val="solid"/>
              <a:miter/>
            </a:ln>
          </p:spPr>
        </p:sp>
      </p:grpSp>
      <p:grpSp>
        <p:nvGrpSpPr>
          <p:cNvPr name="Group 8" id="8"/>
          <p:cNvGrpSpPr/>
          <p:nvPr/>
        </p:nvGrpSpPr>
        <p:grpSpPr>
          <a:xfrm rot="5400000">
            <a:off x="9920040" y="4766310"/>
            <a:ext cx="871080" cy="754380"/>
            <a:chOff x="0" y="0"/>
            <a:chExt cx="1161440" cy="1005840"/>
          </a:xfrm>
        </p:grpSpPr>
        <p:sp>
          <p:nvSpPr>
            <p:cNvPr name="Freeform 9" id="9"/>
            <p:cNvSpPr/>
            <p:nvPr/>
          </p:nvSpPr>
          <p:spPr>
            <a:xfrm flipH="false" flipV="false" rot="0">
              <a:off x="0" y="0"/>
              <a:ext cx="1161415" cy="1005840"/>
            </a:xfrm>
            <a:custGeom>
              <a:avLst/>
              <a:gdLst/>
              <a:ahLst/>
              <a:cxnLst/>
              <a:rect r="r" b="b" t="t" l="l"/>
              <a:pathLst>
                <a:path h="1005840" w="1161415">
                  <a:moveTo>
                    <a:pt x="0" y="502920"/>
                  </a:moveTo>
                  <a:lnTo>
                    <a:pt x="251460" y="0"/>
                  </a:lnTo>
                  <a:lnTo>
                    <a:pt x="909955" y="0"/>
                  </a:lnTo>
                  <a:lnTo>
                    <a:pt x="1161415" y="502920"/>
                  </a:lnTo>
                  <a:lnTo>
                    <a:pt x="909955" y="1005840"/>
                  </a:lnTo>
                  <a:lnTo>
                    <a:pt x="251460" y="1005840"/>
                  </a:lnTo>
                  <a:close/>
                </a:path>
              </a:pathLst>
            </a:custGeom>
            <a:solidFill>
              <a:srgbClr val="7AC143"/>
            </a:solidFill>
          </p:spPr>
        </p:sp>
      </p:grpSp>
      <p:grpSp>
        <p:nvGrpSpPr>
          <p:cNvPr name="Group 10" id="10"/>
          <p:cNvGrpSpPr/>
          <p:nvPr/>
        </p:nvGrpSpPr>
        <p:grpSpPr>
          <a:xfrm rot="5400000">
            <a:off x="16274377" y="2592324"/>
            <a:ext cx="506816" cy="438912"/>
            <a:chOff x="0" y="0"/>
            <a:chExt cx="675754" cy="585216"/>
          </a:xfrm>
        </p:grpSpPr>
        <p:sp>
          <p:nvSpPr>
            <p:cNvPr name="Freeform 11" id="11"/>
            <p:cNvSpPr/>
            <p:nvPr/>
          </p:nvSpPr>
          <p:spPr>
            <a:xfrm flipH="false" flipV="false" rot="0">
              <a:off x="0" y="0"/>
              <a:ext cx="675767" cy="585216"/>
            </a:xfrm>
            <a:custGeom>
              <a:avLst/>
              <a:gdLst/>
              <a:ahLst/>
              <a:cxnLst/>
              <a:rect r="r" b="b" t="t" l="l"/>
              <a:pathLst>
                <a:path h="585216" w="675767">
                  <a:moveTo>
                    <a:pt x="0" y="292608"/>
                  </a:moveTo>
                  <a:lnTo>
                    <a:pt x="146304" y="0"/>
                  </a:lnTo>
                  <a:lnTo>
                    <a:pt x="529463" y="0"/>
                  </a:lnTo>
                  <a:lnTo>
                    <a:pt x="675767" y="292608"/>
                  </a:lnTo>
                  <a:lnTo>
                    <a:pt x="529463" y="585216"/>
                  </a:lnTo>
                  <a:lnTo>
                    <a:pt x="146304" y="585216"/>
                  </a:lnTo>
                  <a:close/>
                </a:path>
              </a:pathLst>
            </a:custGeom>
            <a:solidFill>
              <a:srgbClr val="7AC143">
                <a:alpha val="48627"/>
              </a:srgbClr>
            </a:solidFill>
          </p:spPr>
        </p:sp>
      </p:grpSp>
      <p:grpSp>
        <p:nvGrpSpPr>
          <p:cNvPr name="Group 12" id="12"/>
          <p:cNvGrpSpPr/>
          <p:nvPr/>
        </p:nvGrpSpPr>
        <p:grpSpPr>
          <a:xfrm rot="5400000">
            <a:off x="10303088" y="2160270"/>
            <a:ext cx="6414335" cy="5554980"/>
            <a:chOff x="0" y="0"/>
            <a:chExt cx="8552447" cy="7406640"/>
          </a:xfrm>
        </p:grpSpPr>
        <p:sp>
          <p:nvSpPr>
            <p:cNvPr name="Freeform 13" id="13"/>
            <p:cNvSpPr/>
            <p:nvPr/>
          </p:nvSpPr>
          <p:spPr>
            <a:xfrm flipH="false" flipV="false" rot="0">
              <a:off x="0" y="0"/>
              <a:ext cx="8552434" cy="7406640"/>
            </a:xfrm>
            <a:custGeom>
              <a:avLst/>
              <a:gdLst/>
              <a:ahLst/>
              <a:cxnLst/>
              <a:rect r="r" b="b" t="t" l="l"/>
              <a:pathLst>
                <a:path h="7406640" w="8552434">
                  <a:moveTo>
                    <a:pt x="0" y="3703320"/>
                  </a:moveTo>
                  <a:lnTo>
                    <a:pt x="1851660" y="0"/>
                  </a:lnTo>
                  <a:lnTo>
                    <a:pt x="6700774" y="0"/>
                  </a:lnTo>
                  <a:lnTo>
                    <a:pt x="8552434" y="3703320"/>
                  </a:lnTo>
                  <a:lnTo>
                    <a:pt x="6700774" y="7406640"/>
                  </a:lnTo>
                  <a:lnTo>
                    <a:pt x="1851660" y="7406640"/>
                  </a:lnTo>
                  <a:close/>
                </a:path>
              </a:pathLst>
            </a:custGeom>
            <a:solidFill>
              <a:srgbClr val="026855">
                <a:alpha val="20000"/>
              </a:srgbClr>
            </a:solidFill>
          </p:spPr>
        </p:sp>
      </p:grpSp>
      <p:grpSp>
        <p:nvGrpSpPr>
          <p:cNvPr name="Group 14" id="14"/>
          <p:cNvGrpSpPr/>
          <p:nvPr/>
        </p:nvGrpSpPr>
        <p:grpSpPr>
          <a:xfrm rot="5400000">
            <a:off x="10119255" y="7186612"/>
            <a:ext cx="1295600" cy="1125855"/>
            <a:chOff x="0" y="0"/>
            <a:chExt cx="1727467" cy="1501140"/>
          </a:xfrm>
        </p:grpSpPr>
        <p:sp>
          <p:nvSpPr>
            <p:cNvPr name="Freeform 15" id="15"/>
            <p:cNvSpPr/>
            <p:nvPr/>
          </p:nvSpPr>
          <p:spPr>
            <a:xfrm flipH="false" flipV="false" rot="0">
              <a:off x="0" y="0"/>
              <a:ext cx="1727454" cy="1501140"/>
            </a:xfrm>
            <a:custGeom>
              <a:avLst/>
              <a:gdLst/>
              <a:ahLst/>
              <a:cxnLst/>
              <a:rect r="r" b="b" t="t" l="l"/>
              <a:pathLst>
                <a:path h="1501140" w="1727454">
                  <a:moveTo>
                    <a:pt x="0" y="750570"/>
                  </a:moveTo>
                  <a:lnTo>
                    <a:pt x="375285" y="0"/>
                  </a:lnTo>
                  <a:lnTo>
                    <a:pt x="1352169" y="0"/>
                  </a:lnTo>
                  <a:lnTo>
                    <a:pt x="1727454" y="750570"/>
                  </a:lnTo>
                  <a:lnTo>
                    <a:pt x="1352169" y="1501140"/>
                  </a:lnTo>
                  <a:lnTo>
                    <a:pt x="375285" y="1501140"/>
                  </a:lnTo>
                  <a:close/>
                </a:path>
              </a:pathLst>
            </a:custGeom>
            <a:blipFill>
              <a:blip r:embed="rId3">
                <a:alphaModFix amt="0"/>
              </a:blip>
              <a:stretch>
                <a:fillRect l="-61494" t="0" r="-61494" b="0"/>
              </a:stretch>
            </a:blipFill>
            <a:ln w="28575" cap="sq">
              <a:solidFill>
                <a:srgbClr val="7AC143"/>
              </a:solidFill>
              <a:prstDash val="solid"/>
              <a:miter/>
            </a:ln>
          </p:spPr>
        </p:sp>
      </p:grpSp>
      <p:grpSp>
        <p:nvGrpSpPr>
          <p:cNvPr name="Group 16" id="16"/>
          <p:cNvGrpSpPr/>
          <p:nvPr/>
        </p:nvGrpSpPr>
        <p:grpSpPr>
          <a:xfrm rot="5400000">
            <a:off x="10710062" y="2508885"/>
            <a:ext cx="5600405" cy="4857750"/>
            <a:chOff x="0" y="0"/>
            <a:chExt cx="7467206" cy="6477000"/>
          </a:xfrm>
        </p:grpSpPr>
        <p:sp>
          <p:nvSpPr>
            <p:cNvPr name="Freeform 17" id="17"/>
            <p:cNvSpPr/>
            <p:nvPr/>
          </p:nvSpPr>
          <p:spPr>
            <a:xfrm flipH="false" flipV="false" rot="0">
              <a:off x="0" y="0"/>
              <a:ext cx="7467219" cy="6477000"/>
            </a:xfrm>
            <a:custGeom>
              <a:avLst/>
              <a:gdLst/>
              <a:ahLst/>
              <a:cxnLst/>
              <a:rect r="r" b="b" t="t" l="l"/>
              <a:pathLst>
                <a:path h="6477000" w="7467219">
                  <a:moveTo>
                    <a:pt x="0" y="3238500"/>
                  </a:moveTo>
                  <a:lnTo>
                    <a:pt x="1619250" y="0"/>
                  </a:lnTo>
                  <a:lnTo>
                    <a:pt x="5847969" y="0"/>
                  </a:lnTo>
                  <a:lnTo>
                    <a:pt x="7467219" y="3238500"/>
                  </a:lnTo>
                  <a:lnTo>
                    <a:pt x="5847969" y="6477000"/>
                  </a:lnTo>
                  <a:lnTo>
                    <a:pt x="1619250" y="6477000"/>
                  </a:lnTo>
                  <a:close/>
                </a:path>
              </a:pathLst>
            </a:custGeom>
            <a:solidFill>
              <a:srgbClr val="FFFFFF"/>
            </a:solidFill>
            <a:ln w="57150" cap="sq">
              <a:solidFill>
                <a:srgbClr val="7AC143"/>
              </a:solidFill>
              <a:prstDash val="solid"/>
              <a:miter/>
            </a:ln>
          </p:spPr>
        </p:sp>
      </p:grpSp>
      <p:grpSp>
        <p:nvGrpSpPr>
          <p:cNvPr name="Group 18" id="18"/>
          <p:cNvGrpSpPr/>
          <p:nvPr/>
        </p:nvGrpSpPr>
        <p:grpSpPr>
          <a:xfrm rot="0">
            <a:off x="12166149" y="3188970"/>
            <a:ext cx="2688222" cy="3497580"/>
            <a:chOff x="0" y="0"/>
            <a:chExt cx="3584296" cy="4663440"/>
          </a:xfrm>
        </p:grpSpPr>
        <p:sp>
          <p:nvSpPr>
            <p:cNvPr name="Freeform 19" id="19" descr="Genesis logo"/>
            <p:cNvSpPr/>
            <p:nvPr/>
          </p:nvSpPr>
          <p:spPr>
            <a:xfrm flipH="false" flipV="false" rot="0">
              <a:off x="0" y="0"/>
              <a:ext cx="3584321" cy="4663440"/>
            </a:xfrm>
            <a:custGeom>
              <a:avLst/>
              <a:gdLst/>
              <a:ahLst/>
              <a:cxnLst/>
              <a:rect r="r" b="b" t="t" l="l"/>
              <a:pathLst>
                <a:path h="4663440" w="3584321">
                  <a:moveTo>
                    <a:pt x="0" y="0"/>
                  </a:moveTo>
                  <a:lnTo>
                    <a:pt x="3584321" y="0"/>
                  </a:lnTo>
                  <a:lnTo>
                    <a:pt x="3584321" y="4663440"/>
                  </a:lnTo>
                  <a:lnTo>
                    <a:pt x="0" y="4663440"/>
                  </a:lnTo>
                  <a:lnTo>
                    <a:pt x="0" y="0"/>
                  </a:lnTo>
                  <a:close/>
                </a:path>
              </a:pathLst>
            </a:custGeom>
            <a:blipFill>
              <a:blip r:embed="rId4"/>
              <a:stretch>
                <a:fillRect l="0" t="0" r="0" b="0"/>
              </a:stretch>
            </a:blipFill>
          </p:spPr>
        </p:sp>
      </p:grpSp>
      <p:grpSp>
        <p:nvGrpSpPr>
          <p:cNvPr name="Group 20" id="20"/>
          <p:cNvGrpSpPr/>
          <p:nvPr/>
        </p:nvGrpSpPr>
        <p:grpSpPr>
          <a:xfrm rot="0">
            <a:off x="822960" y="754380"/>
            <a:ext cx="7955280" cy="480060"/>
            <a:chOff x="0" y="0"/>
            <a:chExt cx="10607040" cy="640080"/>
          </a:xfrm>
        </p:grpSpPr>
        <p:sp>
          <p:nvSpPr>
            <p:cNvPr name="Freeform 21" id="21"/>
            <p:cNvSpPr/>
            <p:nvPr/>
          </p:nvSpPr>
          <p:spPr>
            <a:xfrm flipH="false" flipV="false" rot="0">
              <a:off x="0" y="0"/>
              <a:ext cx="10607040" cy="640080"/>
            </a:xfrm>
            <a:custGeom>
              <a:avLst/>
              <a:gdLst/>
              <a:ahLst/>
              <a:cxnLst/>
              <a:rect r="r" b="b" t="t" l="l"/>
              <a:pathLst>
                <a:path h="640080" w="10607040">
                  <a:moveTo>
                    <a:pt x="0" y="0"/>
                  </a:moveTo>
                  <a:lnTo>
                    <a:pt x="10607040" y="0"/>
                  </a:lnTo>
                  <a:lnTo>
                    <a:pt x="10607040" y="640080"/>
                  </a:lnTo>
                  <a:lnTo>
                    <a:pt x="0" y="640080"/>
                  </a:lnTo>
                  <a:close/>
                </a:path>
              </a:pathLst>
            </a:custGeom>
            <a:blipFill>
              <a:blip r:embed="rId3">
                <a:alphaModFix amt="0"/>
              </a:blip>
              <a:stretch>
                <a:fillRect l="0" t="-272894" r="0" b="-272894"/>
              </a:stretch>
            </a:blipFill>
          </p:spPr>
        </p:sp>
        <p:sp>
          <p:nvSpPr>
            <p:cNvPr name="TextBox 22" id="22"/>
            <p:cNvSpPr txBox="true"/>
            <p:nvPr/>
          </p:nvSpPr>
          <p:spPr>
            <a:xfrm>
              <a:off x="0" y="-38100"/>
              <a:ext cx="10607040" cy="678180"/>
            </a:xfrm>
            <a:prstGeom prst="rect">
              <a:avLst/>
            </a:prstGeom>
          </p:spPr>
          <p:txBody>
            <a:bodyPr anchor="ctr" rtlCol="false" tIns="0" lIns="0" bIns="0" rIns="0"/>
            <a:lstStyle/>
            <a:p>
              <a:pPr algn="l">
                <a:lnSpc>
                  <a:spcPts val="2160"/>
                </a:lnSpc>
              </a:pPr>
              <a:r>
                <a:rPr lang="en-US" b="true" sz="1800" spc="599">
                  <a:solidFill>
                    <a:srgbClr val="7AC143"/>
                  </a:solidFill>
                  <a:latin typeface="Calibri (MS) Bold"/>
                  <a:ea typeface="Calibri (MS) Bold"/>
                  <a:cs typeface="Calibri (MS) Bold"/>
                  <a:sym typeface="Calibri (MS) Bold"/>
                </a:rPr>
                <a:t>PRE-IDEATHON TEMPLATE</a:t>
              </a:r>
            </a:p>
          </p:txBody>
        </p:sp>
      </p:grpSp>
      <p:sp>
        <p:nvSpPr>
          <p:cNvPr name="TextBox 23" id="23"/>
          <p:cNvSpPr txBox="true"/>
          <p:nvPr/>
        </p:nvSpPr>
        <p:spPr>
          <a:xfrm rot="0">
            <a:off x="822960" y="1379220"/>
            <a:ext cx="8503920" cy="2324100"/>
          </a:xfrm>
          <a:prstGeom prst="rect">
            <a:avLst/>
          </a:prstGeom>
        </p:spPr>
        <p:txBody>
          <a:bodyPr anchor="t" rtlCol="false" tIns="0" lIns="0" bIns="0" rIns="0">
            <a:spAutoFit/>
          </a:bodyPr>
          <a:lstStyle/>
          <a:p>
            <a:pPr algn="l">
              <a:lnSpc>
                <a:spcPts val="8748"/>
              </a:lnSpc>
            </a:pPr>
            <a:r>
              <a:rPr lang="en-US" b="true" sz="8100" spc="299">
                <a:solidFill>
                  <a:srgbClr val="FFFFFF"/>
                </a:solidFill>
                <a:latin typeface="Cambria Bold"/>
                <a:ea typeface="Cambria Bold"/>
                <a:cs typeface="Cambria Bold"/>
                <a:sym typeface="Cambria Bold"/>
              </a:rPr>
              <a:t>GENESIS</a:t>
            </a:r>
          </a:p>
          <a:p>
            <a:pPr algn="l">
              <a:lnSpc>
                <a:spcPts val="8748"/>
              </a:lnSpc>
            </a:pPr>
            <a:r>
              <a:rPr lang="en-US" b="true" sz="8100" spc="299">
                <a:solidFill>
                  <a:srgbClr val="7AC143"/>
                </a:solidFill>
                <a:latin typeface="Cambria Bold"/>
                <a:ea typeface="Cambria Bold"/>
                <a:cs typeface="Cambria Bold"/>
                <a:sym typeface="Cambria Bold"/>
              </a:rPr>
              <a:t>IDEATHON</a:t>
            </a:r>
          </a:p>
        </p:txBody>
      </p:sp>
      <p:grpSp>
        <p:nvGrpSpPr>
          <p:cNvPr name="Group 24" id="24"/>
          <p:cNvGrpSpPr/>
          <p:nvPr/>
        </p:nvGrpSpPr>
        <p:grpSpPr>
          <a:xfrm rot="0">
            <a:off x="811054" y="3897154"/>
            <a:ext cx="3178492" cy="599884"/>
            <a:chOff x="0" y="0"/>
            <a:chExt cx="4237990" cy="799846"/>
          </a:xfrm>
        </p:grpSpPr>
        <p:sp>
          <p:nvSpPr>
            <p:cNvPr name="Freeform 25" id="25"/>
            <p:cNvSpPr/>
            <p:nvPr/>
          </p:nvSpPr>
          <p:spPr>
            <a:xfrm flipH="false" flipV="false" rot="0">
              <a:off x="0" y="0"/>
              <a:ext cx="4237990" cy="799846"/>
            </a:xfrm>
            <a:custGeom>
              <a:avLst/>
              <a:gdLst/>
              <a:ahLst/>
              <a:cxnLst/>
              <a:rect r="r" b="b" t="t" l="l"/>
              <a:pathLst>
                <a:path h="799846" w="4237990">
                  <a:moveTo>
                    <a:pt x="0" y="399923"/>
                  </a:moveTo>
                  <a:cubicBezTo>
                    <a:pt x="0" y="179070"/>
                    <a:pt x="179070" y="0"/>
                    <a:pt x="399923" y="0"/>
                  </a:cubicBezTo>
                  <a:lnTo>
                    <a:pt x="3838067" y="0"/>
                  </a:lnTo>
                  <a:cubicBezTo>
                    <a:pt x="4058920" y="0"/>
                    <a:pt x="4237990" y="179070"/>
                    <a:pt x="4237990" y="399923"/>
                  </a:cubicBezTo>
                  <a:cubicBezTo>
                    <a:pt x="4237990" y="620776"/>
                    <a:pt x="4058920" y="799846"/>
                    <a:pt x="3838067" y="799846"/>
                  </a:cubicBezTo>
                  <a:lnTo>
                    <a:pt x="399923" y="799846"/>
                  </a:lnTo>
                  <a:cubicBezTo>
                    <a:pt x="179070" y="799846"/>
                    <a:pt x="0" y="620776"/>
                    <a:pt x="0" y="399923"/>
                  </a:cubicBezTo>
                  <a:close/>
                </a:path>
              </a:pathLst>
            </a:custGeom>
            <a:blipFill>
              <a:blip r:embed="rId3">
                <a:alphaModFix amt="0"/>
              </a:blip>
              <a:stretch>
                <a:fillRect l="0" t="-53241" r="0" b="-53241"/>
              </a:stretch>
            </a:blipFill>
            <a:ln w="23812" cap="sq">
              <a:solidFill>
                <a:srgbClr val="7AC143"/>
              </a:solidFill>
              <a:prstDash val="solid"/>
              <a:miter/>
            </a:ln>
          </p:spPr>
        </p:sp>
        <p:sp>
          <p:nvSpPr>
            <p:cNvPr name="TextBox 26" id="26"/>
            <p:cNvSpPr txBox="true"/>
            <p:nvPr/>
          </p:nvSpPr>
          <p:spPr>
            <a:xfrm>
              <a:off x="0" y="-47625"/>
              <a:ext cx="4237990" cy="847471"/>
            </a:xfrm>
            <a:prstGeom prst="rect">
              <a:avLst/>
            </a:prstGeom>
          </p:spPr>
          <p:txBody>
            <a:bodyPr anchor="ctr" rtlCol="false" tIns="50800" lIns="50800" bIns="50800" rIns="50800"/>
            <a:lstStyle/>
            <a:p>
              <a:pPr algn="ctr">
                <a:lnSpc>
                  <a:spcPts val="2340"/>
                </a:lnSpc>
              </a:pPr>
              <a:r>
                <a:rPr lang="en-US" b="true" sz="1950" spc="449">
                  <a:solidFill>
                    <a:srgbClr val="FFFFFF"/>
                  </a:solidFill>
                  <a:latin typeface="Calibri (MS) Bold"/>
                  <a:ea typeface="Calibri (MS) Bold"/>
                  <a:cs typeface="Calibri (MS) Bold"/>
                  <a:sym typeface="Calibri (MS) Bold"/>
                </a:rPr>
                <a:t>TEAM &amp; DOMAIN</a:t>
              </a:r>
            </a:p>
          </p:txBody>
        </p:sp>
      </p:grpSp>
      <p:sp>
        <p:nvSpPr>
          <p:cNvPr name="TextBox 27" id="27"/>
          <p:cNvSpPr txBox="true"/>
          <p:nvPr/>
        </p:nvSpPr>
        <p:spPr>
          <a:xfrm rot="0">
            <a:off x="548640" y="4991100"/>
            <a:ext cx="9052560" cy="333375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FFFFFF"/>
                </a:solidFill>
                <a:latin typeface="Calibri (MS)"/>
                <a:ea typeface="Calibri (MS)"/>
                <a:cs typeface="Calibri (MS)"/>
                <a:sym typeface="Calibri (MS)"/>
              </a:rPr>
              <a:t>Team Name – Watch Dogs</a:t>
            </a:r>
          </a:p>
          <a:p>
            <a:pPr algn="just" marL="488632" indent="-244316" lvl="1">
              <a:lnSpc>
                <a:spcPts val="3240"/>
              </a:lnSpc>
              <a:buFont typeface="Arial"/>
              <a:buChar char="•"/>
            </a:pPr>
            <a:r>
              <a:rPr lang="en-US" sz="2700">
                <a:solidFill>
                  <a:srgbClr val="FFFFFF"/>
                </a:solidFill>
                <a:latin typeface="Calibri (MS)"/>
                <a:ea typeface="Calibri (MS)"/>
                <a:cs typeface="Calibri (MS)"/>
                <a:sym typeface="Calibri (MS)"/>
              </a:rPr>
              <a:t>Team Members –Ananya A(CB.EN.U4ARE25059)</a:t>
            </a:r>
          </a:p>
          <a:p>
            <a:pPr algn="just">
              <a:lnSpc>
                <a:spcPts val="3240"/>
              </a:lnSpc>
            </a:pPr>
            <a:r>
              <a:rPr lang="en-US" sz="2700">
                <a:solidFill>
                  <a:srgbClr val="FFFFFF"/>
                </a:solidFill>
                <a:latin typeface="Calibri (MS)"/>
                <a:ea typeface="Calibri (MS)"/>
                <a:cs typeface="Calibri (MS)"/>
                <a:sym typeface="Calibri (MS)"/>
              </a:rPr>
              <a:t>                                     Sarweshwaran G P(CB.EN.U4ARE25042)</a:t>
            </a:r>
          </a:p>
          <a:p>
            <a:pPr algn="just">
              <a:lnSpc>
                <a:spcPts val="3240"/>
              </a:lnSpc>
            </a:pPr>
            <a:r>
              <a:rPr lang="en-US" sz="2700">
                <a:solidFill>
                  <a:srgbClr val="FFFFFF"/>
                </a:solidFill>
                <a:latin typeface="Calibri (MS)"/>
                <a:ea typeface="Calibri (MS)"/>
                <a:cs typeface="Calibri (MS)"/>
                <a:sym typeface="Calibri (MS)"/>
              </a:rPr>
              <a:t>                                     Gokulakrishnan (CB.EN.U4ARE25001)</a:t>
            </a:r>
          </a:p>
          <a:p>
            <a:pPr algn="just">
              <a:lnSpc>
                <a:spcPts val="3240"/>
              </a:lnSpc>
            </a:pPr>
            <a:r>
              <a:rPr lang="en-US" sz="2700">
                <a:solidFill>
                  <a:srgbClr val="FFFFFF"/>
                </a:solidFill>
                <a:latin typeface="Calibri (MS)"/>
                <a:ea typeface="Calibri (MS)"/>
                <a:cs typeface="Calibri (MS)"/>
                <a:sym typeface="Calibri (MS)"/>
              </a:rPr>
              <a:t>                                    Thushhar Vinoth(CB.EN.U4ARE25058)</a:t>
            </a:r>
          </a:p>
          <a:p>
            <a:pPr algn="l" marL="488632" indent="-244316" lvl="1">
              <a:lnSpc>
                <a:spcPts val="3240"/>
              </a:lnSpc>
              <a:buFont typeface="Arial"/>
              <a:buChar char="•"/>
            </a:pPr>
            <a:r>
              <a:rPr lang="en-US" sz="2700">
                <a:solidFill>
                  <a:srgbClr val="FFFFFF"/>
                </a:solidFill>
                <a:latin typeface="Calibri (MS)"/>
                <a:ea typeface="Calibri (MS)"/>
                <a:cs typeface="Calibri (MS)"/>
                <a:sym typeface="Calibri (MS)"/>
              </a:rPr>
              <a:t>Selected Domain – Domain-2</a:t>
            </a:r>
          </a:p>
          <a:p>
            <a:pPr algn="l" marL="488632" indent="-244316" lvl="1">
              <a:lnSpc>
                <a:spcPts val="3240"/>
              </a:lnSpc>
              <a:buFont typeface="Arial"/>
              <a:buChar char="•"/>
            </a:pPr>
            <a:r>
              <a:rPr lang="en-US" sz="2700">
                <a:solidFill>
                  <a:srgbClr val="FFFFFF"/>
                </a:solidFill>
                <a:latin typeface="Calibri (MS)"/>
                <a:ea typeface="Calibri (MS)"/>
                <a:cs typeface="Calibri (MS)"/>
                <a:sym typeface="Calibri (MS)"/>
              </a:rPr>
              <a:t>Problem Statement –Predictive Smart Campus Energy &amp; Mobility Management System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4">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DOMAIN PROBLEM IN OUR WORDS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042416"/>
            <a:chOff x="0" y="0"/>
            <a:chExt cx="3255264" cy="1389888"/>
          </a:xfrm>
        </p:grpSpPr>
        <p:sp>
          <p:nvSpPr>
            <p:cNvPr name="Freeform 29" id="2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30" id="30"/>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Watch Dogs</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755648" y="2125980"/>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7" id="37"/>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Explain the problem in your domain simply, in your own words</a:t>
              </a:r>
            </a:p>
          </p:txBody>
        </p:sp>
      </p:grpSp>
      <p:sp>
        <p:nvSpPr>
          <p:cNvPr name="TextBox 38" id="38"/>
          <p:cNvSpPr txBox="true"/>
          <p:nvPr/>
        </p:nvSpPr>
        <p:spPr>
          <a:xfrm rot="0">
            <a:off x="1303020" y="3166110"/>
            <a:ext cx="15636240" cy="497205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52B35"/>
                </a:solidFill>
                <a:latin typeface="Calibri (MS)"/>
                <a:ea typeface="Calibri (MS)"/>
                <a:cs typeface="Calibri (MS)"/>
                <a:sym typeface="Calibri (MS)"/>
              </a:rPr>
              <a:t>What exactly needs to be solved?</a:t>
            </a:r>
          </a:p>
          <a:p>
            <a:pPr algn="l">
              <a:lnSpc>
                <a:spcPts val="3240"/>
              </a:lnSpc>
            </a:pPr>
            <a:r>
              <a:rPr lang="en-US" sz="2700">
                <a:solidFill>
                  <a:srgbClr val="026855"/>
                </a:solidFill>
                <a:latin typeface="Calibri (MS)"/>
                <a:ea typeface="Calibri (MS)"/>
                <a:cs typeface="Calibri (MS)"/>
                <a:sym typeface="Calibri (MS)"/>
              </a:rPr>
              <a:t>We aim to develop a smart energy management system for campuses that can predict upcoming energy demand and intelligently decide where the available power should be used. By coordinating solar energy, battery storage, EV charging, electric buses, and regular campus loads, the system can prevent unnecessary peak loads, reduce energy costs, and make better use of renewable energy.</a:t>
            </a:r>
          </a:p>
          <a:p>
            <a:pPr algn="l">
              <a:lnSpc>
                <a:spcPts val="3240"/>
              </a:lnSpc>
            </a:pPr>
            <a:r>
              <a:rPr lang="en-US" sz="2700">
                <a:solidFill>
                  <a:srgbClr val="7AC143"/>
                </a:solidFill>
                <a:latin typeface="Calibri (MS)"/>
                <a:ea typeface="Calibri (MS)"/>
                <a:cs typeface="Calibri (MS)"/>
                <a:sym typeface="Calibri (MS)"/>
              </a:rPr>
              <a:t> </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Why is it important right now?</a:t>
            </a:r>
          </a:p>
          <a:p>
            <a:pPr algn="l">
              <a:lnSpc>
                <a:spcPts val="3240"/>
              </a:lnSpc>
            </a:pPr>
            <a:r>
              <a:rPr lang="en-US" sz="2700">
                <a:solidFill>
                  <a:srgbClr val="026855"/>
                </a:solidFill>
                <a:latin typeface="Calibri (MS)"/>
                <a:ea typeface="Calibri (MS)"/>
                <a:cs typeface="Calibri (MS)"/>
                <a:sym typeface="Calibri (MS)"/>
              </a:rPr>
              <a:t>As campuses adopt more EVs, electric buses, solar panels, and battery storage, the demand for electricity is becoming more complex and unpredictable. If all these systems operate independently, energy can be wasted, peak loads can increase, and electricity costs can rise. An intelligent energy management system can coordinate these resources, making sure limited energy is used where and when it is needed most.</a:t>
            </a:r>
          </a:p>
          <a:p>
            <a:pPr algn="l">
              <a:lnSpc>
                <a:spcPts val="3240"/>
              </a:lnSpc>
            </a:pPr>
          </a:p>
        </p:txBody>
      </p:sp>
      <p:grpSp>
        <p:nvGrpSpPr>
          <p:cNvPr name="Group 39" id="39"/>
          <p:cNvGrpSpPr/>
          <p:nvPr/>
        </p:nvGrpSpPr>
        <p:grpSpPr>
          <a:xfrm rot="0">
            <a:off x="16888511" y="9614916"/>
            <a:ext cx="685800" cy="593903"/>
            <a:chOff x="0" y="0"/>
            <a:chExt cx="914400" cy="791870"/>
          </a:xfrm>
        </p:grpSpPr>
        <p:sp>
          <p:nvSpPr>
            <p:cNvPr name="Freeform 40" id="40"/>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41" id="41"/>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869180" y="480060"/>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WHO IS AFFECTED?</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2057400" y="576072"/>
            <a:ext cx="2441448" cy="1042416"/>
            <a:chOff x="0" y="0"/>
            <a:chExt cx="3255264" cy="1389888"/>
          </a:xfrm>
        </p:grpSpPr>
        <p:sp>
          <p:nvSpPr>
            <p:cNvPr name="Freeform 26" id="26"/>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27" id="27"/>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Watch Dogs</a:t>
              </a:r>
            </a:p>
          </p:txBody>
        </p:sp>
      </p:grpSp>
      <p:grpSp>
        <p:nvGrpSpPr>
          <p:cNvPr name="Group 28" id="28"/>
          <p:cNvGrpSpPr/>
          <p:nvPr/>
        </p:nvGrpSpPr>
        <p:grpSpPr>
          <a:xfrm rot="0">
            <a:off x="555212" y="179831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678656" y="1889522"/>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2" id="32"/>
          <p:cNvGrpSpPr/>
          <p:nvPr/>
        </p:nvGrpSpPr>
        <p:grpSpPr>
          <a:xfrm rot="0">
            <a:off x="1353083" y="1721644"/>
            <a:ext cx="14401800" cy="754380"/>
            <a:chOff x="0" y="0"/>
            <a:chExt cx="19202400" cy="1005840"/>
          </a:xfrm>
        </p:grpSpPr>
        <p:sp>
          <p:nvSpPr>
            <p:cNvPr name="Freeform 33" id="33"/>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4" id="34"/>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Target users, stakeholders, beneficiaries</a:t>
              </a:r>
            </a:p>
          </p:txBody>
        </p:sp>
      </p:grpSp>
      <p:sp>
        <p:nvSpPr>
          <p:cNvPr name="TextBox 35" id="35"/>
          <p:cNvSpPr txBox="true"/>
          <p:nvPr/>
        </p:nvSpPr>
        <p:spPr>
          <a:xfrm rot="0">
            <a:off x="898112" y="2335063"/>
            <a:ext cx="15462047" cy="7839075"/>
          </a:xfrm>
          <a:prstGeom prst="rect">
            <a:avLst/>
          </a:prstGeom>
        </p:spPr>
        <p:txBody>
          <a:bodyPr anchor="t" rtlCol="false" tIns="0" lIns="0" bIns="0" rIns="0">
            <a:spAutoFit/>
          </a:bodyPr>
          <a:lstStyle/>
          <a:p>
            <a:pPr algn="just" marL="488632" indent="-244316" lvl="1">
              <a:lnSpc>
                <a:spcPts val="3240"/>
              </a:lnSpc>
              <a:buFont typeface="Arial"/>
              <a:buChar char="•"/>
            </a:pPr>
            <a:r>
              <a:rPr lang="en-US" sz="2700">
                <a:solidFill>
                  <a:srgbClr val="0E2A2F"/>
                </a:solidFill>
                <a:latin typeface="Calibri (MS)"/>
                <a:ea typeface="Calibri (MS)"/>
                <a:cs typeface="Calibri (MS)"/>
                <a:sym typeface="Calibri (MS)"/>
              </a:rPr>
              <a:t>Primary users / target group</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Campus Management: Monitor energy use and reduce electricity costs.</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EV &amp; Bus Operators: Manage charging schedules efficiently.</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Facility Managers: Ensure smooth power distribution across campus.</a:t>
            </a:r>
          </a:p>
          <a:p>
            <a:pPr algn="just">
              <a:lnSpc>
                <a:spcPts val="3240"/>
              </a:lnSpc>
            </a:pPr>
          </a:p>
          <a:p>
            <a:pPr algn="just" marL="488632" indent="-244316" lvl="1">
              <a:lnSpc>
                <a:spcPts val="3240"/>
              </a:lnSpc>
              <a:buFont typeface="Arial"/>
              <a:buChar char="•"/>
            </a:pPr>
            <a:r>
              <a:rPr lang="en-US" sz="2700">
                <a:solidFill>
                  <a:srgbClr val="0E2A2F"/>
                </a:solidFill>
                <a:latin typeface="Calibri (MS)"/>
                <a:ea typeface="Calibri (MS)"/>
                <a:cs typeface="Calibri (MS)"/>
                <a:sym typeface="Calibri (MS)"/>
              </a:rPr>
              <a:t>Secondary stakeholders</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Grid Operators: Reduce pressure on the electricity grid.</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Energy Providers: Improve solar energy utilization.</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Technical Teams: Maintain and monitor the system.</a:t>
            </a:r>
          </a:p>
          <a:p>
            <a:pPr algn="just">
              <a:lnSpc>
                <a:spcPts val="3240"/>
              </a:lnSpc>
            </a:pPr>
          </a:p>
          <a:p>
            <a:pPr algn="just" marL="488632" indent="-244316" lvl="1">
              <a:lnSpc>
                <a:spcPts val="3240"/>
              </a:lnSpc>
              <a:buFont typeface="Arial"/>
              <a:buChar char="•"/>
            </a:pPr>
            <a:r>
              <a:rPr lang="en-US" sz="2700">
                <a:solidFill>
                  <a:srgbClr val="0E2A2F"/>
                </a:solidFill>
                <a:latin typeface="Calibri (MS)"/>
                <a:ea typeface="Calibri (MS)"/>
                <a:cs typeface="Calibri (MS)"/>
                <a:sym typeface="Calibri (MS)"/>
              </a:rPr>
              <a:t>Who benefits if the problem is solved?</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Campus: Lower electricity bills and less energy wastage.</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EV Users: Smarter charging and fewer delays.</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Students &amp; Staff: Reliable power and transportation.</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Power Grid: Reduced peak loads and grid stress.</a:t>
            </a:r>
          </a:p>
          <a:p>
            <a:pPr algn="just" marL="582930" indent="-291465" lvl="1">
              <a:lnSpc>
                <a:spcPts val="3240"/>
              </a:lnSpc>
              <a:buFont typeface="Arial"/>
              <a:buChar char="•"/>
            </a:pPr>
            <a:r>
              <a:rPr lang="en-US" sz="2700">
                <a:solidFill>
                  <a:srgbClr val="026855"/>
                </a:solidFill>
                <a:latin typeface="Calibri (MS)"/>
                <a:ea typeface="Calibri (MS)"/>
                <a:cs typeface="Calibri (MS)"/>
                <a:sym typeface="Calibri (MS)"/>
              </a:rPr>
              <a:t>🌱 Environment: Cleaner energy and lower emissions.</a:t>
            </a:r>
          </a:p>
          <a:p>
            <a:pPr algn="just">
              <a:lnSpc>
                <a:spcPts val="3240"/>
              </a:lnSpc>
            </a:pPr>
          </a:p>
          <a:p>
            <a:pPr algn="just">
              <a:lnSpc>
                <a:spcPts val="3240"/>
              </a:lnSpc>
            </a:pPr>
          </a:p>
          <a:p>
            <a:pPr algn="just">
              <a:lnSpc>
                <a:spcPts val="3240"/>
              </a:lnSpc>
            </a:pPr>
          </a:p>
        </p:txBody>
      </p:sp>
      <p:grpSp>
        <p:nvGrpSpPr>
          <p:cNvPr name="Group 36" id="36"/>
          <p:cNvGrpSpPr/>
          <p:nvPr/>
        </p:nvGrpSpPr>
        <p:grpSpPr>
          <a:xfrm rot="0">
            <a:off x="16888511" y="9614916"/>
            <a:ext cx="685800" cy="593903"/>
            <a:chOff x="0" y="0"/>
            <a:chExt cx="914400" cy="791870"/>
          </a:xfrm>
        </p:grpSpPr>
        <p:sp>
          <p:nvSpPr>
            <p:cNvPr name="Freeform 37" id="37"/>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8" id="38"/>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4">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CURRENT SITUATION &amp; CONTEXT</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042416"/>
            <a:chOff x="0" y="0"/>
            <a:chExt cx="3255264" cy="1389888"/>
          </a:xfrm>
        </p:grpSpPr>
        <p:sp>
          <p:nvSpPr>
            <p:cNvPr name="Freeform 29" id="2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30" id="30"/>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Watch Dogs</a:t>
              </a:r>
            </a:p>
          </p:txBody>
        </p:sp>
      </p:grpSp>
      <p:grpSp>
        <p:nvGrpSpPr>
          <p:cNvPr name="Group 31" id="31"/>
          <p:cNvGrpSpPr/>
          <p:nvPr/>
        </p:nvGrpSpPr>
        <p:grpSpPr>
          <a:xfrm rot="0">
            <a:off x="761238" y="1896923"/>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898398" y="1988134"/>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565924" y="1816684"/>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7" id="37"/>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Existing scenario, background and how things work today</a:t>
              </a:r>
            </a:p>
          </p:txBody>
        </p:sp>
      </p:grpSp>
      <p:sp>
        <p:nvSpPr>
          <p:cNvPr name="TextBox 38" id="38"/>
          <p:cNvSpPr txBox="true"/>
          <p:nvPr/>
        </p:nvSpPr>
        <p:spPr>
          <a:xfrm rot="0">
            <a:off x="1378458" y="2618689"/>
            <a:ext cx="15636240" cy="6200775"/>
          </a:xfrm>
          <a:prstGeom prst="rect">
            <a:avLst/>
          </a:prstGeom>
        </p:spPr>
        <p:txBody>
          <a:bodyPr anchor="t" rtlCol="false" tIns="0" lIns="0" bIns="0" rIns="0">
            <a:spAutoFit/>
          </a:bodyPr>
          <a:lstStyle/>
          <a:p>
            <a:pPr algn="l" marL="488632" indent="-244316" lvl="1">
              <a:lnSpc>
                <a:spcPts val="3240"/>
              </a:lnSpc>
              <a:buFont typeface="Arial"/>
              <a:buChar char="•"/>
            </a:pPr>
            <a:r>
              <a:rPr lang="en-US" b="true" sz="2700">
                <a:solidFill>
                  <a:srgbClr val="0E2A2F"/>
                </a:solidFill>
                <a:latin typeface="Calibri (MS) Bold"/>
                <a:ea typeface="Calibri (MS) Bold"/>
                <a:cs typeface="Calibri (MS) Bold"/>
                <a:sym typeface="Calibri (MS) Bold"/>
              </a:rPr>
              <a:t>Existing scenario and background</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Campus electricity demand changes throughout the day.</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EVs and electric buses may need charging at the same time.</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Solar power generation varies with sunlight and weather.</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Energy sources and charging systems may be managed separately.</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Poor coordination can lead to peak loads, higher costs, and unused solar energy.</a:t>
            </a:r>
          </a:p>
          <a:p>
            <a:pPr algn="l">
              <a:lnSpc>
                <a:spcPts val="3240"/>
              </a:lnSpc>
            </a:pPr>
          </a:p>
          <a:p>
            <a:pPr algn="l" marL="488632" indent="-244316" lvl="1">
              <a:lnSpc>
                <a:spcPts val="3240"/>
              </a:lnSpc>
              <a:buFont typeface="Arial"/>
              <a:buChar char="•"/>
            </a:pPr>
            <a:r>
              <a:rPr lang="en-US" b="true" sz="2700">
                <a:solidFill>
                  <a:srgbClr val="0E2A2F"/>
                </a:solidFill>
                <a:latin typeface="Calibri (MS) Bold"/>
                <a:ea typeface="Calibri (MS) Bold"/>
                <a:cs typeface="Calibri (MS) Bold"/>
                <a:sym typeface="Calibri (MS) Bold"/>
              </a:rPr>
              <a:t>Relevant data or facts </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Electricity demand varies throughout the day.</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Solar generation depends on weather.</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EV charging depends on battery levels and departure times.</a:t>
            </a:r>
          </a:p>
          <a:p>
            <a:pPr algn="l">
              <a:lnSpc>
                <a:spcPts val="3240"/>
              </a:lnSpc>
            </a:pPr>
          </a:p>
          <a:p>
            <a:pPr algn="l" marL="488632" indent="-244316" lvl="1">
              <a:lnSpc>
                <a:spcPts val="3240"/>
              </a:lnSpc>
              <a:buFont typeface="Arial"/>
              <a:buChar char="•"/>
            </a:pPr>
            <a:r>
              <a:rPr lang="en-US" b="true" sz="2700">
                <a:solidFill>
                  <a:srgbClr val="0E2A2F"/>
                </a:solidFill>
                <a:latin typeface="Calibri (MS) Bold"/>
                <a:ea typeface="Calibri (MS) Bold"/>
                <a:cs typeface="Calibri (MS) Bold"/>
                <a:sym typeface="Calibri (MS) Bold"/>
              </a:rPr>
              <a:t>Current workflow, step by step</a:t>
            </a:r>
          </a:p>
          <a:p>
            <a:pPr algn="l">
              <a:lnSpc>
                <a:spcPts val="3240"/>
              </a:lnSpc>
            </a:pPr>
            <a:r>
              <a:rPr lang="en-US" sz="2700">
                <a:solidFill>
                  <a:srgbClr val="026855"/>
                </a:solidFill>
                <a:latin typeface="Calibri (MS)"/>
                <a:ea typeface="Calibri (MS)"/>
                <a:cs typeface="Calibri (MS)"/>
                <a:sym typeface="Calibri (MS)"/>
              </a:rPr>
              <a:t>      Energy Supply → Campus Consumption → EV Charging → Peak Demand → Higher Costs &amp; Grid Stress</a:t>
            </a:r>
          </a:p>
          <a:p>
            <a:pPr algn="l">
              <a:lnSpc>
                <a:spcPts val="3240"/>
              </a:lnSpc>
            </a:pPr>
          </a:p>
        </p:txBody>
      </p:sp>
      <p:grpSp>
        <p:nvGrpSpPr>
          <p:cNvPr name="Group 39" id="39"/>
          <p:cNvGrpSpPr/>
          <p:nvPr/>
        </p:nvGrpSpPr>
        <p:grpSpPr>
          <a:xfrm rot="0">
            <a:off x="16888511" y="9614916"/>
            <a:ext cx="685800" cy="593903"/>
            <a:chOff x="0" y="0"/>
            <a:chExt cx="914400" cy="791870"/>
          </a:xfrm>
        </p:grpSpPr>
        <p:sp>
          <p:nvSpPr>
            <p:cNvPr name="Freeform 40" id="40"/>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41" id="41"/>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4">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KEY CHALLENGES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042416"/>
            <a:chOff x="0" y="0"/>
            <a:chExt cx="3255264" cy="1389888"/>
          </a:xfrm>
        </p:grpSpPr>
        <p:sp>
          <p:nvSpPr>
            <p:cNvPr name="Freeform 29" id="2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30" id="30"/>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Your Team Name</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755648" y="2125980"/>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7" id="37"/>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Main difficulties, bottlenecks, root causes and consequences</a:t>
              </a:r>
            </a:p>
          </p:txBody>
        </p:sp>
      </p:grpSp>
      <p:sp>
        <p:nvSpPr>
          <p:cNvPr name="TextBox 38" id="38"/>
          <p:cNvSpPr txBox="true"/>
          <p:nvPr/>
        </p:nvSpPr>
        <p:spPr>
          <a:xfrm rot="0">
            <a:off x="1303020" y="3166110"/>
            <a:ext cx="15636240" cy="7019925"/>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Main difficulties and bottlenecks</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Sudden spikes in electricity demand.</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Unpredictable solar power availability.</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Simultaneous EV charging demands.</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Poor coordination between energy sources.</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Root causes behind them</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Lack of real-time demand prediction.</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Separate management of energy systems.</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No intelligent charging priorities.</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Limited coordination of grid, solar, and battery power.</a:t>
            </a: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Consequences of leaving them unsolved</a:t>
            </a:r>
          </a:p>
          <a:p>
            <a:pPr algn="l" marL="582930" indent="-291465" lvl="1">
              <a:lnSpc>
                <a:spcPts val="3240"/>
              </a:lnSpc>
              <a:buFont typeface="Arial"/>
              <a:buChar char="•"/>
            </a:pPr>
            <a:r>
              <a:rPr lang="en-US" sz="2700">
                <a:solidFill>
                  <a:srgbClr val="7AC143"/>
                </a:solidFill>
                <a:latin typeface="Calibri (MS)"/>
                <a:ea typeface="Calibri (MS)"/>
                <a:cs typeface="Calibri (MS)"/>
                <a:sym typeface="Calibri (MS)"/>
              </a:rPr>
              <a:t>💸 Higher electricity bills.</a:t>
            </a:r>
          </a:p>
          <a:p>
            <a:pPr algn="l" marL="582930" indent="-291465" lvl="1">
              <a:lnSpc>
                <a:spcPts val="3240"/>
              </a:lnSpc>
              <a:buFont typeface="Arial"/>
              <a:buChar char="•"/>
            </a:pPr>
            <a:r>
              <a:rPr lang="en-US" sz="2700">
                <a:solidFill>
                  <a:srgbClr val="7AC143"/>
                </a:solidFill>
                <a:latin typeface="Calibri (MS)"/>
                <a:ea typeface="Calibri (MS)"/>
                <a:cs typeface="Calibri (MS)"/>
                <a:sym typeface="Calibri (MS)"/>
              </a:rPr>
              <a:t>⚡ Increased grid stress during peak hours.</a:t>
            </a:r>
          </a:p>
          <a:p>
            <a:pPr algn="l" marL="582930" indent="-291465" lvl="1">
              <a:lnSpc>
                <a:spcPts val="3240"/>
              </a:lnSpc>
              <a:buFont typeface="Arial"/>
              <a:buChar char="•"/>
            </a:pPr>
            <a:r>
              <a:rPr lang="en-US" sz="2700">
                <a:solidFill>
                  <a:srgbClr val="7AC143"/>
                </a:solidFill>
                <a:latin typeface="Calibri (MS)"/>
                <a:ea typeface="Calibri (MS)"/>
                <a:cs typeface="Calibri (MS)"/>
                <a:sym typeface="Calibri (MS)"/>
              </a:rPr>
              <a:t>☀️ Wasted renewable energy.</a:t>
            </a:r>
          </a:p>
          <a:p>
            <a:pPr algn="l" marL="582930" indent="-291465" lvl="1">
              <a:lnSpc>
                <a:spcPts val="3240"/>
              </a:lnSpc>
              <a:buFont typeface="Arial"/>
              <a:buChar char="•"/>
            </a:pPr>
            <a:r>
              <a:rPr lang="en-US" sz="2700">
                <a:solidFill>
                  <a:srgbClr val="7AC143"/>
                </a:solidFill>
                <a:latin typeface="Calibri (MS)"/>
                <a:ea typeface="Calibri (MS)"/>
                <a:cs typeface="Calibri (MS)"/>
                <a:sym typeface="Calibri (MS)"/>
              </a:rPr>
              <a:t>🚗 Charging delays and unreliable vehicle availability.</a:t>
            </a:r>
          </a:p>
          <a:p>
            <a:pPr algn="l">
              <a:lnSpc>
                <a:spcPts val="3240"/>
              </a:lnSpc>
            </a:pPr>
          </a:p>
          <a:p>
            <a:pPr algn="l">
              <a:lnSpc>
                <a:spcPts val="3240"/>
              </a:lnSpc>
            </a:pPr>
          </a:p>
        </p:txBody>
      </p:sp>
      <p:grpSp>
        <p:nvGrpSpPr>
          <p:cNvPr name="Group 39" id="39"/>
          <p:cNvGrpSpPr/>
          <p:nvPr/>
        </p:nvGrpSpPr>
        <p:grpSpPr>
          <a:xfrm rot="0">
            <a:off x="16888511" y="9614916"/>
            <a:ext cx="685800" cy="593903"/>
            <a:chOff x="0" y="0"/>
            <a:chExt cx="914400" cy="791870"/>
          </a:xfrm>
        </p:grpSpPr>
        <p:sp>
          <p:nvSpPr>
            <p:cNvPr name="Freeform 40" id="40"/>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41" id="41"/>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869180" y="480060"/>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EXISTING SOLUTIONS / APPROACHES</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2057400" y="576072"/>
            <a:ext cx="2441448" cy="1042416"/>
            <a:chOff x="0" y="0"/>
            <a:chExt cx="3255264" cy="1389888"/>
          </a:xfrm>
        </p:grpSpPr>
        <p:sp>
          <p:nvSpPr>
            <p:cNvPr name="Freeform 26" id="26"/>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27" id="27"/>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Watch dogs</a:t>
              </a:r>
            </a:p>
          </p:txBody>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2" id="32"/>
          <p:cNvGrpSpPr/>
          <p:nvPr/>
        </p:nvGrpSpPr>
        <p:grpSpPr>
          <a:xfrm rot="0">
            <a:off x="1755648" y="2125980"/>
            <a:ext cx="14401800" cy="754380"/>
            <a:chOff x="0" y="0"/>
            <a:chExt cx="19202400" cy="1005840"/>
          </a:xfrm>
        </p:grpSpPr>
        <p:sp>
          <p:nvSpPr>
            <p:cNvPr name="Freeform 33" id="33"/>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4" id="34"/>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What is already being done, and where it falls short</a:t>
              </a:r>
            </a:p>
          </p:txBody>
        </p:sp>
      </p:grpSp>
      <p:sp>
        <p:nvSpPr>
          <p:cNvPr name="TextBox 35" id="35"/>
          <p:cNvSpPr txBox="true"/>
          <p:nvPr/>
        </p:nvSpPr>
        <p:spPr>
          <a:xfrm rot="0">
            <a:off x="1252271" y="2740838"/>
            <a:ext cx="14086327" cy="6689205"/>
          </a:xfrm>
          <a:prstGeom prst="rect">
            <a:avLst/>
          </a:prstGeom>
        </p:spPr>
        <p:txBody>
          <a:bodyPr anchor="t" rtlCol="false" tIns="0" lIns="0" bIns="0" rIns="0">
            <a:spAutoFit/>
          </a:bodyPr>
          <a:lstStyle/>
          <a:p>
            <a:pPr algn="l" marL="440198" indent="-220099" lvl="1">
              <a:lnSpc>
                <a:spcPts val="2918"/>
              </a:lnSpc>
              <a:buFont typeface="Arial"/>
              <a:buChar char="•"/>
            </a:pPr>
            <a:r>
              <a:rPr lang="en-US" sz="2432">
                <a:solidFill>
                  <a:srgbClr val="0E2A2F"/>
                </a:solidFill>
                <a:latin typeface="Calibri (MS)"/>
                <a:ea typeface="Calibri (MS)"/>
                <a:cs typeface="Calibri (MS)"/>
                <a:sym typeface="Calibri (MS)"/>
              </a:rPr>
              <a:t>Existing methods, systems or alternatives</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 Grid Management Systems: Monitor electricity consumption.</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 Solar + Battery Systems: Store and supply renewable energy.</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 Smart EV Chargers: Schedule and control vehicle charging.</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 Energy Monitoring Dashboards: Track usage and demand.</a:t>
            </a:r>
          </a:p>
          <a:p>
            <a:pPr algn="l">
              <a:lnSpc>
                <a:spcPts val="2918"/>
              </a:lnSpc>
            </a:pPr>
          </a:p>
          <a:p>
            <a:pPr algn="l" marL="440198" indent="-220099" lvl="1">
              <a:lnSpc>
                <a:spcPts val="2918"/>
              </a:lnSpc>
              <a:buFont typeface="Arial"/>
              <a:buChar char="•"/>
            </a:pPr>
            <a:r>
              <a:rPr lang="en-US" sz="2432">
                <a:solidFill>
                  <a:srgbClr val="0E2A2F"/>
                </a:solidFill>
                <a:latin typeface="Calibri (MS)"/>
                <a:ea typeface="Calibri (MS)"/>
                <a:cs typeface="Calibri (MS)"/>
                <a:sym typeface="Calibri (MS)"/>
              </a:rPr>
              <a:t>Limitations of each</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Systems may operate independently.</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Limited coordination between energy sources and EV charging.</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Demand predictions may not account for all campus needs.</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Charging priorities may not consider vehicle departure times.</a:t>
            </a:r>
          </a:p>
          <a:p>
            <a:pPr algn="l" marL="525148" indent="-262574" lvl="1">
              <a:lnSpc>
                <a:spcPts val="2918"/>
              </a:lnSpc>
              <a:buFont typeface="Arial"/>
              <a:buChar char="•"/>
            </a:pPr>
          </a:p>
          <a:p>
            <a:pPr algn="l" marL="440198" indent="-220099" lvl="1">
              <a:lnSpc>
                <a:spcPts val="2918"/>
              </a:lnSpc>
              <a:buFont typeface="Arial"/>
              <a:buChar char="•"/>
            </a:pPr>
            <a:r>
              <a:rPr lang="en-US" sz="2432">
                <a:solidFill>
                  <a:srgbClr val="0E2A2F"/>
                </a:solidFill>
                <a:latin typeface="Calibri (MS)"/>
                <a:ea typeface="Calibri (MS)"/>
                <a:cs typeface="Calibri (MS)"/>
                <a:sym typeface="Calibri (MS)"/>
              </a:rPr>
              <a:t>The gap they leave open (Key Challenges)</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Unified Management: Coordinate all energy sources and loads.</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Demand Prediction: Anticipate peak demand before it occurs.</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Smart Allocation: Distribute power based on availability and urgency.</a:t>
            </a:r>
          </a:p>
          <a:p>
            <a:pPr algn="l" marL="525148" indent="-262574" lvl="1">
              <a:lnSpc>
                <a:spcPts val="2918"/>
              </a:lnSpc>
              <a:buFont typeface="Arial"/>
              <a:buChar char="•"/>
            </a:pPr>
            <a:r>
              <a:rPr lang="en-US" sz="2432">
                <a:solidFill>
                  <a:srgbClr val="026855"/>
                </a:solidFill>
                <a:latin typeface="Calibri (MS)"/>
                <a:ea typeface="Calibri (MS)"/>
                <a:cs typeface="Calibri (MS)"/>
                <a:sym typeface="Calibri (MS)"/>
              </a:rPr>
              <a:t>Real-Time Adaptation: Adjust charging schedules as conditions change</a:t>
            </a:r>
          </a:p>
          <a:p>
            <a:pPr algn="l">
              <a:lnSpc>
                <a:spcPts val="2918"/>
              </a:lnSpc>
            </a:pPr>
          </a:p>
        </p:txBody>
      </p:sp>
      <p:grpSp>
        <p:nvGrpSpPr>
          <p:cNvPr name="Group 36" id="36"/>
          <p:cNvGrpSpPr/>
          <p:nvPr/>
        </p:nvGrpSpPr>
        <p:grpSpPr>
          <a:xfrm rot="0">
            <a:off x="16888511" y="9614916"/>
            <a:ext cx="685800" cy="593903"/>
            <a:chOff x="0" y="0"/>
            <a:chExt cx="914400" cy="791870"/>
          </a:xfrm>
        </p:grpSpPr>
        <p:sp>
          <p:nvSpPr>
            <p:cNvPr name="Freeform 37" id="37"/>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8" id="38"/>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4">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PROBLEM INSIGHTS &amp; OPPORTUNITY AREAS</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042416"/>
            <a:chOff x="0" y="0"/>
            <a:chExt cx="3255264" cy="1389888"/>
          </a:xfrm>
        </p:grpSpPr>
        <p:sp>
          <p:nvSpPr>
            <p:cNvPr name="Freeform 29" id="2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30" id="30"/>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Watch Dogs</a:t>
              </a:r>
            </a:p>
          </p:txBody>
        </p:sp>
      </p:grpSp>
      <p:grpSp>
        <p:nvGrpSpPr>
          <p:cNvPr name="Group 31" id="31"/>
          <p:cNvGrpSpPr/>
          <p:nvPr/>
        </p:nvGrpSpPr>
        <p:grpSpPr>
          <a:xfrm rot="0">
            <a:off x="760952" y="1726159"/>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898112" y="1817370"/>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644987" y="1714500"/>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7" id="37"/>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Resources required to solve the problem</a:t>
              </a:r>
            </a:p>
          </p:txBody>
        </p:sp>
      </p:grpSp>
      <p:sp>
        <p:nvSpPr>
          <p:cNvPr name="TextBox 38" id="38"/>
          <p:cNvSpPr txBox="true"/>
          <p:nvPr/>
        </p:nvSpPr>
        <p:spPr>
          <a:xfrm rot="0">
            <a:off x="822960" y="2367686"/>
            <a:ext cx="14515638" cy="824865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Hardware Requirements</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Laptop/PC for development and simulation.</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ESP32 or smart energy meters for data collection (optional).</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Solar panels, battery storage and EV chargers (simulated or existing).</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Internet connection for real-time data access.</a:t>
            </a:r>
          </a:p>
          <a:p>
            <a:pPr algn="l">
              <a:lnSpc>
                <a:spcPts val="3240"/>
              </a:lnSpc>
            </a:pP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Software Requirements</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Python for data analysis and demand prediction.</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Machine learning libraries for forecasting and optimization.</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Streamlit / Power BI for the dashboard.</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Database or CSV datasets for energy consumption and EV charging data.</a:t>
            </a:r>
          </a:p>
          <a:p>
            <a:pPr algn="l">
              <a:lnSpc>
                <a:spcPts val="3240"/>
              </a:lnSpc>
            </a:pPr>
          </a:p>
          <a:p>
            <a:pPr algn="l" marL="488632" indent="-244316" lvl="1">
              <a:lnSpc>
                <a:spcPts val="3240"/>
              </a:lnSpc>
              <a:buFont typeface="Arial"/>
              <a:buChar char="•"/>
            </a:pPr>
            <a:r>
              <a:rPr lang="en-US" sz="2700">
                <a:solidFill>
                  <a:srgbClr val="0E2A2F"/>
                </a:solidFill>
                <a:latin typeface="Calibri (MS)"/>
                <a:ea typeface="Calibri (MS)"/>
                <a:cs typeface="Calibri (MS)"/>
                <a:sym typeface="Calibri (MS)"/>
              </a:rPr>
              <a:t>Other resources (Including Human Resources)</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Team: AI/ML developer, data analyst, software developer and UI/UX designer.</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Data: Campus electricity usage, solar generation, EV charging and tariff data.</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Support: Campus energy managers and electrical experts for validation.</a:t>
            </a:r>
          </a:p>
          <a:p>
            <a:pPr algn="l" marL="582930" indent="-291465" lvl="1">
              <a:lnSpc>
                <a:spcPts val="3240"/>
              </a:lnSpc>
              <a:buFont typeface="Arial"/>
              <a:buChar char="•"/>
            </a:pPr>
            <a:r>
              <a:rPr lang="en-US" sz="2700">
                <a:solidFill>
                  <a:srgbClr val="026855"/>
                </a:solidFill>
                <a:latin typeface="Calibri (MS)"/>
                <a:ea typeface="Calibri (MS)"/>
                <a:cs typeface="Calibri (MS)"/>
                <a:sym typeface="Calibri (MS)"/>
              </a:rPr>
              <a:t>☁️ Resources: Cloud hosting and public datasets (optional).</a:t>
            </a:r>
          </a:p>
          <a:p>
            <a:pPr algn="l">
              <a:lnSpc>
                <a:spcPts val="3240"/>
              </a:lnSpc>
            </a:pPr>
          </a:p>
          <a:p>
            <a:pPr algn="l">
              <a:lnSpc>
                <a:spcPts val="3240"/>
              </a:lnSpc>
            </a:pPr>
          </a:p>
          <a:p>
            <a:pPr algn="l">
              <a:lnSpc>
                <a:spcPts val="3240"/>
              </a:lnSpc>
            </a:pPr>
          </a:p>
        </p:txBody>
      </p:sp>
      <p:grpSp>
        <p:nvGrpSpPr>
          <p:cNvPr name="Group 39" id="39"/>
          <p:cNvGrpSpPr/>
          <p:nvPr/>
        </p:nvGrpSpPr>
        <p:grpSpPr>
          <a:xfrm rot="0">
            <a:off x="16888511" y="9614916"/>
            <a:ext cx="685800" cy="593903"/>
            <a:chOff x="0" y="0"/>
            <a:chExt cx="914400" cy="791870"/>
          </a:xfrm>
        </p:grpSpPr>
        <p:sp>
          <p:nvSpPr>
            <p:cNvPr name="Freeform 40" id="40"/>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41" id="41"/>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16888511" y="9614916"/>
            <a:ext cx="685800" cy="593903"/>
            <a:chOff x="0" y="0"/>
            <a:chExt cx="914400" cy="791870"/>
          </a:xfrm>
        </p:grpSpPr>
        <p:sp>
          <p:nvSpPr>
            <p:cNvPr name="Freeform 9" id="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0" id="10"/>
          <p:cNvGrpSpPr/>
          <p:nvPr/>
        </p:nvGrpSpPr>
        <p:grpSpPr>
          <a:xfrm rot="5400000">
            <a:off x="15903559" y="7017544"/>
            <a:ext cx="2161927" cy="1875473"/>
            <a:chOff x="0" y="0"/>
            <a:chExt cx="2882570" cy="2500630"/>
          </a:xfrm>
        </p:grpSpPr>
        <p:sp>
          <p:nvSpPr>
            <p:cNvPr name="Freeform 11" id="11"/>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2" id="12"/>
          <p:cNvGrpSpPr/>
          <p:nvPr/>
        </p:nvGrpSpPr>
        <p:grpSpPr>
          <a:xfrm rot="5400000">
            <a:off x="14613988" y="8011954"/>
            <a:ext cx="1449219" cy="1258252"/>
            <a:chOff x="0" y="0"/>
            <a:chExt cx="1932292" cy="1677670"/>
          </a:xfrm>
        </p:grpSpPr>
        <p:sp>
          <p:nvSpPr>
            <p:cNvPr name="Freeform 13" id="13"/>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4" id="14"/>
          <p:cNvGrpSpPr/>
          <p:nvPr/>
        </p:nvGrpSpPr>
        <p:grpSpPr>
          <a:xfrm rot="5400000">
            <a:off x="17357188" y="5748814"/>
            <a:ext cx="1449219" cy="1258252"/>
            <a:chOff x="0" y="0"/>
            <a:chExt cx="1932292" cy="1677670"/>
          </a:xfrm>
        </p:grpSpPr>
        <p:sp>
          <p:nvSpPr>
            <p:cNvPr name="Freeform 15" id="15"/>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6" id="16"/>
          <p:cNvGrpSpPr/>
          <p:nvPr/>
        </p:nvGrpSpPr>
        <p:grpSpPr>
          <a:xfrm rot="0">
            <a:off x="4869180" y="480060"/>
            <a:ext cx="11247120" cy="1234440"/>
            <a:chOff x="0" y="0"/>
            <a:chExt cx="14996160" cy="1645920"/>
          </a:xfrm>
        </p:grpSpPr>
        <p:sp>
          <p:nvSpPr>
            <p:cNvPr name="Freeform 17" id="17"/>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18" id="18"/>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INITIAL DIRECTION &amp; EXPECTED OUTCOME</a:t>
              </a:r>
            </a:p>
          </p:txBody>
        </p:sp>
      </p:grpSp>
      <p:grpSp>
        <p:nvGrpSpPr>
          <p:cNvPr name="Group 19" id="19"/>
          <p:cNvGrpSpPr/>
          <p:nvPr/>
        </p:nvGrpSpPr>
        <p:grpSpPr>
          <a:xfrm rot="0">
            <a:off x="678656" y="472916"/>
            <a:ext cx="3923347" cy="1248727"/>
            <a:chOff x="0" y="0"/>
            <a:chExt cx="5231130" cy="1664970"/>
          </a:xfrm>
        </p:grpSpPr>
        <p:sp>
          <p:nvSpPr>
            <p:cNvPr name="Freeform 20" id="20"/>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1" id="21"/>
          <p:cNvGrpSpPr/>
          <p:nvPr/>
        </p:nvGrpSpPr>
        <p:grpSpPr>
          <a:xfrm rot="0">
            <a:off x="898112" y="678656"/>
            <a:ext cx="960692" cy="837248"/>
            <a:chOff x="0" y="0"/>
            <a:chExt cx="1280922" cy="1116330"/>
          </a:xfrm>
        </p:grpSpPr>
        <p:sp>
          <p:nvSpPr>
            <p:cNvPr name="Freeform 22" id="22"/>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3" id="23"/>
          <p:cNvGrpSpPr/>
          <p:nvPr/>
        </p:nvGrpSpPr>
        <p:grpSpPr>
          <a:xfrm rot="0">
            <a:off x="1104138" y="822960"/>
            <a:ext cx="548640" cy="548640"/>
            <a:chOff x="0" y="0"/>
            <a:chExt cx="731520" cy="731520"/>
          </a:xfrm>
        </p:grpSpPr>
        <p:sp>
          <p:nvSpPr>
            <p:cNvPr name="Freeform 24" id="24"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5" id="25"/>
          <p:cNvGrpSpPr/>
          <p:nvPr/>
        </p:nvGrpSpPr>
        <p:grpSpPr>
          <a:xfrm rot="0">
            <a:off x="2057400" y="576072"/>
            <a:ext cx="2441448" cy="1042416"/>
            <a:chOff x="0" y="0"/>
            <a:chExt cx="3255264" cy="1389888"/>
          </a:xfrm>
        </p:grpSpPr>
        <p:sp>
          <p:nvSpPr>
            <p:cNvPr name="Freeform 26" id="26"/>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27" id="27"/>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Watch Dogs</a:t>
              </a:r>
            </a:p>
          </p:txBody>
        </p:sp>
      </p:grpSp>
      <p:grpSp>
        <p:nvGrpSpPr>
          <p:cNvPr name="Group 28" id="28"/>
          <p:cNvGrpSpPr/>
          <p:nvPr/>
        </p:nvGrpSpPr>
        <p:grpSpPr>
          <a:xfrm rot="0">
            <a:off x="822960" y="2194560"/>
            <a:ext cx="685800" cy="593903"/>
            <a:chOff x="0" y="0"/>
            <a:chExt cx="914400" cy="791870"/>
          </a:xfrm>
        </p:grpSpPr>
        <p:sp>
          <p:nvSpPr>
            <p:cNvPr name="Freeform 29" id="29"/>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0" id="30"/>
          <p:cNvGrpSpPr/>
          <p:nvPr/>
        </p:nvGrpSpPr>
        <p:grpSpPr>
          <a:xfrm rot="0">
            <a:off x="960120" y="2285086"/>
            <a:ext cx="411480" cy="411480"/>
            <a:chOff x="0" y="0"/>
            <a:chExt cx="548640" cy="548640"/>
          </a:xfrm>
        </p:grpSpPr>
        <p:sp>
          <p:nvSpPr>
            <p:cNvPr name="Freeform 31" id="31"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2" id="32"/>
          <p:cNvGrpSpPr/>
          <p:nvPr/>
        </p:nvGrpSpPr>
        <p:grpSpPr>
          <a:xfrm rot="0">
            <a:off x="1755648" y="2125980"/>
            <a:ext cx="14401800" cy="754380"/>
            <a:chOff x="0" y="0"/>
            <a:chExt cx="19202400" cy="1005840"/>
          </a:xfrm>
        </p:grpSpPr>
        <p:sp>
          <p:nvSpPr>
            <p:cNvPr name="Freeform 33" id="33"/>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4" id="34"/>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What Is Your Expected Outcome?</a:t>
              </a:r>
            </a:p>
          </p:txBody>
        </p:sp>
      </p:grpSp>
      <p:sp>
        <p:nvSpPr>
          <p:cNvPr name="TextBox 35" id="35"/>
          <p:cNvSpPr txBox="true"/>
          <p:nvPr/>
        </p:nvSpPr>
        <p:spPr>
          <a:xfrm rot="0">
            <a:off x="1252271" y="2731313"/>
            <a:ext cx="15145292" cy="6801307"/>
          </a:xfrm>
          <a:prstGeom prst="rect">
            <a:avLst/>
          </a:prstGeom>
        </p:spPr>
        <p:txBody>
          <a:bodyPr anchor="t" rtlCol="false" tIns="0" lIns="0" bIns="0" rIns="0">
            <a:spAutoFit/>
          </a:bodyPr>
          <a:lstStyle/>
          <a:p>
            <a:pPr algn="l" marL="473290" indent="-236645" lvl="1">
              <a:lnSpc>
                <a:spcPts val="3138"/>
              </a:lnSpc>
              <a:buFont typeface="Arial"/>
              <a:buChar char="•"/>
            </a:pPr>
            <a:r>
              <a:rPr lang="en-US" sz="2615">
                <a:solidFill>
                  <a:srgbClr val="0E2A2F"/>
                </a:solidFill>
                <a:latin typeface="Calibri (MS)"/>
                <a:ea typeface="Calibri (MS)"/>
                <a:cs typeface="Calibri (MS)"/>
                <a:sym typeface="Calibri (MS)"/>
              </a:rPr>
              <a:t>What your team intends to do</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Develop a smart system to predict campus energy demand.</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Coordinate grid, solar, and battery power.</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Optimize EV and bus charging schedules</a:t>
            </a:r>
          </a:p>
          <a:p>
            <a:pPr algn="l">
              <a:lnSpc>
                <a:spcPts val="3138"/>
              </a:lnSpc>
            </a:pPr>
          </a:p>
          <a:p>
            <a:pPr algn="l" marL="473290" indent="-236645" lvl="1">
              <a:lnSpc>
                <a:spcPts val="3138"/>
              </a:lnSpc>
              <a:buFont typeface="Arial"/>
              <a:buChar char="•"/>
            </a:pPr>
            <a:r>
              <a:rPr lang="en-US" sz="2615">
                <a:solidFill>
                  <a:srgbClr val="0E2A2F"/>
                </a:solidFill>
                <a:latin typeface="Calibri (MS)"/>
                <a:ea typeface="Calibri (MS)"/>
                <a:cs typeface="Calibri (MS)"/>
                <a:sym typeface="Calibri (MS)"/>
              </a:rPr>
              <a:t>What you want to improve</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Reduce electricity costs.</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Prevent excessive peak demand.</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Make better use of renewable energy.</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Ensure vehicles are charged when needed.</a:t>
            </a:r>
          </a:p>
          <a:p>
            <a:pPr algn="l">
              <a:lnSpc>
                <a:spcPts val="3138"/>
              </a:lnSpc>
            </a:pPr>
          </a:p>
          <a:p>
            <a:pPr algn="l" marL="473290" indent="-236645" lvl="1">
              <a:lnSpc>
                <a:spcPts val="3138"/>
              </a:lnSpc>
              <a:buFont typeface="Arial"/>
              <a:buChar char="•"/>
            </a:pPr>
            <a:r>
              <a:rPr lang="en-US" sz="2615">
                <a:solidFill>
                  <a:srgbClr val="0E2A2F"/>
                </a:solidFill>
                <a:latin typeface="Calibri (MS)"/>
                <a:ea typeface="Calibri (MS)"/>
                <a:cs typeface="Calibri (MS)"/>
                <a:sym typeface="Calibri (MS)"/>
              </a:rPr>
              <a:t>What successful improvement should you achieve</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Lower peak electricity demand.</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Less renewable energy wastage.</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More efficient energy distribution.</a:t>
            </a:r>
          </a:p>
          <a:p>
            <a:pPr algn="l" marL="564627" indent="-282314" lvl="1">
              <a:lnSpc>
                <a:spcPts val="3138"/>
              </a:lnSpc>
              <a:buFont typeface="Arial"/>
              <a:buChar char="•"/>
            </a:pPr>
            <a:r>
              <a:rPr lang="en-US" sz="2615">
                <a:solidFill>
                  <a:srgbClr val="026855"/>
                </a:solidFill>
                <a:latin typeface="Calibri (MS)"/>
                <a:ea typeface="Calibri (MS)"/>
                <a:cs typeface="Calibri (MS)"/>
                <a:sym typeface="Calibri (MS)"/>
              </a:rPr>
              <a:t>🚘 Reliable EV charging with fewer delays.</a:t>
            </a:r>
          </a:p>
          <a:p>
            <a:pPr algn="l">
              <a:lnSpc>
                <a:spcPts val="3138"/>
              </a:lnSpc>
            </a:pPr>
          </a:p>
        </p:txBody>
      </p:sp>
      <p:grpSp>
        <p:nvGrpSpPr>
          <p:cNvPr name="Group 36" id="36"/>
          <p:cNvGrpSpPr/>
          <p:nvPr/>
        </p:nvGrpSpPr>
        <p:grpSpPr>
          <a:xfrm rot="0">
            <a:off x="16888511" y="9614916"/>
            <a:ext cx="685800" cy="593903"/>
            <a:chOff x="0" y="0"/>
            <a:chExt cx="914400" cy="791870"/>
          </a:xfrm>
        </p:grpSpPr>
        <p:sp>
          <p:nvSpPr>
            <p:cNvPr name="Freeform 37" id="37"/>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38" id="38"/>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8F5"/>
        </a:solidFill>
      </p:bgPr>
    </p:bg>
    <p:spTree>
      <p:nvGrpSpPr>
        <p:cNvPr id="1" name=""/>
        <p:cNvGrpSpPr/>
        <p:nvPr/>
      </p:nvGrpSpPr>
      <p:grpSpPr>
        <a:xfrm>
          <a:off x="0" y="0"/>
          <a:ext cx="0" cy="0"/>
          <a:chOff x="0" y="0"/>
          <a:chExt cx="0" cy="0"/>
        </a:xfrm>
      </p:grpSpPr>
      <p:grpSp>
        <p:nvGrpSpPr>
          <p:cNvPr name="Group 2" id="2"/>
          <p:cNvGrpSpPr/>
          <p:nvPr/>
        </p:nvGrpSpPr>
        <p:grpSpPr>
          <a:xfrm rot="0">
            <a:off x="16360159" y="472916"/>
            <a:ext cx="1248727" cy="1248727"/>
            <a:chOff x="0" y="0"/>
            <a:chExt cx="1664970" cy="1664970"/>
          </a:xfrm>
        </p:grpSpPr>
        <p:sp>
          <p:nvSpPr>
            <p:cNvPr name="Freeform 3" id="3"/>
            <p:cNvSpPr/>
            <p:nvPr/>
          </p:nvSpPr>
          <p:spPr>
            <a:xfrm flipH="false" flipV="false" rot="0">
              <a:off x="0" y="0"/>
              <a:ext cx="1664970" cy="1664970"/>
            </a:xfrm>
            <a:custGeom>
              <a:avLst/>
              <a:gdLst/>
              <a:ahLst/>
              <a:cxnLst/>
              <a:rect r="r" b="b" t="t" l="l"/>
              <a:pathLst>
                <a:path h="1664970" w="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4" id="4"/>
          <p:cNvGrpSpPr/>
          <p:nvPr/>
        </p:nvGrpSpPr>
        <p:grpSpPr>
          <a:xfrm rot="0">
            <a:off x="16583920" y="576072"/>
            <a:ext cx="801195" cy="1042416"/>
            <a:chOff x="0" y="0"/>
            <a:chExt cx="1068260" cy="1389888"/>
          </a:xfrm>
        </p:grpSpPr>
        <p:sp>
          <p:nvSpPr>
            <p:cNvPr name="Freeform 5" id="5" descr="Genesis logo"/>
            <p:cNvSpPr/>
            <p:nvPr/>
          </p:nvSpPr>
          <p:spPr>
            <a:xfrm flipH="false" flipV="false" rot="0">
              <a:off x="0" y="0"/>
              <a:ext cx="1068324" cy="1389888"/>
            </a:xfrm>
            <a:custGeom>
              <a:avLst/>
              <a:gdLst/>
              <a:ahLst/>
              <a:cxnLst/>
              <a:rect r="r" b="b" t="t" l="l"/>
              <a:pathLst>
                <a:path h="1389888" w="1068324">
                  <a:moveTo>
                    <a:pt x="0" y="0"/>
                  </a:moveTo>
                  <a:lnTo>
                    <a:pt x="1068324" y="0"/>
                  </a:lnTo>
                  <a:lnTo>
                    <a:pt x="1068324" y="1389888"/>
                  </a:lnTo>
                  <a:lnTo>
                    <a:pt x="0" y="1389888"/>
                  </a:lnTo>
                  <a:lnTo>
                    <a:pt x="0" y="0"/>
                  </a:lnTo>
                  <a:close/>
                </a:path>
              </a:pathLst>
            </a:custGeom>
            <a:blipFill>
              <a:blip r:embed="rId3"/>
              <a:stretch>
                <a:fillRect l="0" t="0" r="5" b="0"/>
              </a:stretch>
            </a:blipFill>
          </p:spPr>
        </p:sp>
      </p:grpSp>
      <p:grpSp>
        <p:nvGrpSpPr>
          <p:cNvPr name="Group 6" id="6"/>
          <p:cNvGrpSpPr/>
          <p:nvPr/>
        </p:nvGrpSpPr>
        <p:grpSpPr>
          <a:xfrm rot="0">
            <a:off x="0" y="9532620"/>
            <a:ext cx="18287543" cy="754380"/>
            <a:chOff x="0" y="0"/>
            <a:chExt cx="24383390" cy="1005840"/>
          </a:xfrm>
        </p:grpSpPr>
        <p:sp>
          <p:nvSpPr>
            <p:cNvPr name="Freeform 7" id="7"/>
            <p:cNvSpPr/>
            <p:nvPr/>
          </p:nvSpPr>
          <p:spPr>
            <a:xfrm flipH="false" flipV="false" rot="0">
              <a:off x="0" y="0"/>
              <a:ext cx="24383364" cy="1005840"/>
            </a:xfrm>
            <a:custGeom>
              <a:avLst/>
              <a:gdLst/>
              <a:ahLst/>
              <a:cxnLst/>
              <a:rect r="r" b="b" t="t" l="l"/>
              <a:pathLst>
                <a:path h="1005840" w="24383364">
                  <a:moveTo>
                    <a:pt x="0" y="0"/>
                  </a:moveTo>
                  <a:lnTo>
                    <a:pt x="24383364" y="0"/>
                  </a:lnTo>
                  <a:lnTo>
                    <a:pt x="24383364" y="1005840"/>
                  </a:lnTo>
                  <a:lnTo>
                    <a:pt x="0" y="1005840"/>
                  </a:lnTo>
                  <a:close/>
                </a:path>
              </a:pathLst>
            </a:custGeom>
            <a:solidFill>
              <a:srgbClr val="052B35"/>
            </a:solidFill>
          </p:spPr>
        </p:sp>
      </p:grpSp>
      <p:grpSp>
        <p:nvGrpSpPr>
          <p:cNvPr name="Group 8" id="8"/>
          <p:cNvGrpSpPr/>
          <p:nvPr/>
        </p:nvGrpSpPr>
        <p:grpSpPr>
          <a:xfrm rot="0">
            <a:off x="3429000" y="9532620"/>
            <a:ext cx="11429543" cy="754380"/>
            <a:chOff x="0" y="0"/>
            <a:chExt cx="15239390" cy="1005840"/>
          </a:xfrm>
        </p:grpSpPr>
        <p:sp>
          <p:nvSpPr>
            <p:cNvPr name="Freeform 9" id="9"/>
            <p:cNvSpPr/>
            <p:nvPr/>
          </p:nvSpPr>
          <p:spPr>
            <a:xfrm flipH="false" flipV="false" rot="0">
              <a:off x="0" y="0"/>
              <a:ext cx="15239391" cy="1005840"/>
            </a:xfrm>
            <a:custGeom>
              <a:avLst/>
              <a:gdLst/>
              <a:ahLst/>
              <a:cxnLst/>
              <a:rect r="r" b="b" t="t" l="l"/>
              <a:pathLst>
                <a:path h="1005840" w="15239391">
                  <a:moveTo>
                    <a:pt x="0" y="0"/>
                  </a:moveTo>
                  <a:lnTo>
                    <a:pt x="15239391" y="0"/>
                  </a:lnTo>
                  <a:lnTo>
                    <a:pt x="15239391" y="1005840"/>
                  </a:lnTo>
                  <a:lnTo>
                    <a:pt x="0" y="1005840"/>
                  </a:lnTo>
                  <a:close/>
                </a:path>
              </a:pathLst>
            </a:custGeom>
            <a:blipFill>
              <a:blip r:embed="rId4">
                <a:alphaModFix amt="0"/>
              </a:blip>
              <a:stretch>
                <a:fillRect l="0" t="-245216" r="0" b="-245216"/>
              </a:stretch>
            </a:blipFill>
          </p:spPr>
        </p:sp>
        <p:sp>
          <p:nvSpPr>
            <p:cNvPr name="TextBox 10" id="10"/>
            <p:cNvSpPr txBox="true"/>
            <p:nvPr/>
          </p:nvSpPr>
          <p:spPr>
            <a:xfrm>
              <a:off x="0" y="-19050"/>
              <a:ext cx="15239390" cy="1024890"/>
            </a:xfrm>
            <a:prstGeom prst="rect">
              <a:avLst/>
            </a:prstGeom>
          </p:spPr>
          <p:txBody>
            <a:bodyPr anchor="ctr" rtlCol="false" tIns="0" lIns="0" bIns="0" rIns="0"/>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name="Group 11" id="11"/>
          <p:cNvGrpSpPr/>
          <p:nvPr/>
        </p:nvGrpSpPr>
        <p:grpSpPr>
          <a:xfrm rot="0">
            <a:off x="16888511" y="9614916"/>
            <a:ext cx="685800" cy="593903"/>
            <a:chOff x="0" y="0"/>
            <a:chExt cx="914400" cy="791870"/>
          </a:xfrm>
        </p:grpSpPr>
        <p:sp>
          <p:nvSpPr>
            <p:cNvPr name="Freeform 12" id="1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13" id="13"/>
          <p:cNvGrpSpPr/>
          <p:nvPr/>
        </p:nvGrpSpPr>
        <p:grpSpPr>
          <a:xfrm rot="5400000">
            <a:off x="15903559" y="7017544"/>
            <a:ext cx="2161927" cy="1875473"/>
            <a:chOff x="0" y="0"/>
            <a:chExt cx="2882570" cy="2500630"/>
          </a:xfrm>
        </p:grpSpPr>
        <p:sp>
          <p:nvSpPr>
            <p:cNvPr name="Freeform 14" id="14"/>
            <p:cNvSpPr/>
            <p:nvPr/>
          </p:nvSpPr>
          <p:spPr>
            <a:xfrm flipH="false" flipV="false" rot="0">
              <a:off x="0" y="0"/>
              <a:ext cx="2882519" cy="2500630"/>
            </a:xfrm>
            <a:custGeom>
              <a:avLst/>
              <a:gdLst/>
              <a:ahLst/>
              <a:cxnLst/>
              <a:rect r="r" b="b" t="t" l="l"/>
              <a:pathLst>
                <a:path h="2500630" w="2882519">
                  <a:moveTo>
                    <a:pt x="0" y="1250315"/>
                  </a:moveTo>
                  <a:lnTo>
                    <a:pt x="625094" y="0"/>
                  </a:lnTo>
                  <a:lnTo>
                    <a:pt x="2257425" y="0"/>
                  </a:lnTo>
                  <a:lnTo>
                    <a:pt x="2882519" y="1250315"/>
                  </a:lnTo>
                  <a:lnTo>
                    <a:pt x="2257425" y="2500630"/>
                  </a:lnTo>
                  <a:lnTo>
                    <a:pt x="625094" y="2500630"/>
                  </a:lnTo>
                  <a:close/>
                </a:path>
              </a:pathLst>
            </a:custGeom>
            <a:blipFill>
              <a:blip r:embed="rId4">
                <a:alphaModFix amt="0"/>
              </a:blip>
              <a:stretch>
                <a:fillRect l="-61304" t="0" r="-61306" b="0"/>
              </a:stretch>
            </a:blipFill>
            <a:ln w="23812" cap="sq">
              <a:solidFill>
                <a:srgbClr val="4FA278"/>
              </a:solidFill>
              <a:prstDash val="solid"/>
              <a:miter/>
            </a:ln>
          </p:spPr>
        </p:sp>
      </p:grpSp>
      <p:grpSp>
        <p:nvGrpSpPr>
          <p:cNvPr name="Group 15" id="15"/>
          <p:cNvGrpSpPr/>
          <p:nvPr/>
        </p:nvGrpSpPr>
        <p:grpSpPr>
          <a:xfrm rot="5400000">
            <a:off x="14613988" y="8011954"/>
            <a:ext cx="1449219" cy="1258252"/>
            <a:chOff x="0" y="0"/>
            <a:chExt cx="1932292" cy="1677670"/>
          </a:xfrm>
        </p:grpSpPr>
        <p:sp>
          <p:nvSpPr>
            <p:cNvPr name="Freeform 16" id="16"/>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7" id="17"/>
          <p:cNvGrpSpPr/>
          <p:nvPr/>
        </p:nvGrpSpPr>
        <p:grpSpPr>
          <a:xfrm rot="5400000">
            <a:off x="17357188" y="5748814"/>
            <a:ext cx="1449219" cy="1258252"/>
            <a:chOff x="0" y="0"/>
            <a:chExt cx="1932292" cy="1677670"/>
          </a:xfrm>
        </p:grpSpPr>
        <p:sp>
          <p:nvSpPr>
            <p:cNvPr name="Freeform 18" id="18"/>
            <p:cNvSpPr/>
            <p:nvPr/>
          </p:nvSpPr>
          <p:spPr>
            <a:xfrm flipH="false" flipV="false" rot="0">
              <a:off x="0" y="0"/>
              <a:ext cx="1932178" cy="1677670"/>
            </a:xfrm>
            <a:custGeom>
              <a:avLst/>
              <a:gdLst/>
              <a:ahLst/>
              <a:cxnLst/>
              <a:rect r="r" b="b" t="t" l="l"/>
              <a:pathLst>
                <a:path h="1677670" w="1932178">
                  <a:moveTo>
                    <a:pt x="0" y="838835"/>
                  </a:moveTo>
                  <a:lnTo>
                    <a:pt x="419354" y="0"/>
                  </a:lnTo>
                  <a:lnTo>
                    <a:pt x="1512824" y="0"/>
                  </a:lnTo>
                  <a:lnTo>
                    <a:pt x="1932178" y="838835"/>
                  </a:lnTo>
                  <a:lnTo>
                    <a:pt x="1512824" y="1677670"/>
                  </a:lnTo>
                  <a:lnTo>
                    <a:pt x="419354" y="1677670"/>
                  </a:lnTo>
                  <a:close/>
                </a:path>
              </a:pathLst>
            </a:custGeom>
            <a:blipFill>
              <a:blip r:embed="rId4">
                <a:alphaModFix amt="0"/>
              </a:blip>
              <a:stretch>
                <a:fillRect l="-61400" t="0" r="-61406" b="0"/>
              </a:stretch>
            </a:blipFill>
            <a:ln w="23812" cap="sq">
              <a:solidFill>
                <a:srgbClr val="4FA278"/>
              </a:solidFill>
              <a:prstDash val="solid"/>
              <a:miter/>
            </a:ln>
          </p:spPr>
        </p:sp>
      </p:grpSp>
      <p:grpSp>
        <p:nvGrpSpPr>
          <p:cNvPr name="Group 19" id="19"/>
          <p:cNvGrpSpPr/>
          <p:nvPr/>
        </p:nvGrpSpPr>
        <p:grpSpPr>
          <a:xfrm rot="0">
            <a:off x="4869180" y="480060"/>
            <a:ext cx="11247120" cy="1234440"/>
            <a:chOff x="0" y="0"/>
            <a:chExt cx="14996160" cy="1645920"/>
          </a:xfrm>
        </p:grpSpPr>
        <p:sp>
          <p:nvSpPr>
            <p:cNvPr name="Freeform 20" id="20"/>
            <p:cNvSpPr/>
            <p:nvPr/>
          </p:nvSpPr>
          <p:spPr>
            <a:xfrm flipH="false" flipV="false" rot="0">
              <a:off x="0" y="0"/>
              <a:ext cx="14996161" cy="1645920"/>
            </a:xfrm>
            <a:custGeom>
              <a:avLst/>
              <a:gdLst/>
              <a:ahLst/>
              <a:cxnLst/>
              <a:rect r="r" b="b" t="t" l="l"/>
              <a:pathLst>
                <a:path h="1645920" w="14996161">
                  <a:moveTo>
                    <a:pt x="0" y="0"/>
                  </a:moveTo>
                  <a:lnTo>
                    <a:pt x="14996161" y="0"/>
                  </a:lnTo>
                  <a:lnTo>
                    <a:pt x="14996161" y="1645920"/>
                  </a:lnTo>
                  <a:lnTo>
                    <a:pt x="0" y="1645920"/>
                  </a:lnTo>
                  <a:close/>
                </a:path>
              </a:pathLst>
            </a:custGeom>
            <a:blipFill>
              <a:blip r:embed="rId4">
                <a:alphaModFix amt="0"/>
              </a:blip>
              <a:stretch>
                <a:fillRect l="0" t="-127530" r="0" b="-127530"/>
              </a:stretch>
            </a:blipFill>
          </p:spPr>
        </p:sp>
        <p:sp>
          <p:nvSpPr>
            <p:cNvPr name="TextBox 21" id="21"/>
            <p:cNvSpPr txBox="true"/>
            <p:nvPr/>
          </p:nvSpPr>
          <p:spPr>
            <a:xfrm>
              <a:off x="0" y="-19050"/>
              <a:ext cx="14996160" cy="1664970"/>
            </a:xfrm>
            <a:prstGeom prst="rect">
              <a:avLst/>
            </a:prstGeom>
          </p:spPr>
          <p:txBody>
            <a:bodyPr anchor="ctr" rtlCol="false" tIns="0" lIns="0" bIns="0" rIns="0"/>
            <a:lstStyle/>
            <a:p>
              <a:pPr algn="ctr">
                <a:lnSpc>
                  <a:spcPts val="4320"/>
                </a:lnSpc>
              </a:pPr>
              <a:r>
                <a:rPr lang="en-US" b="true" sz="3600" spc="150">
                  <a:solidFill>
                    <a:srgbClr val="052B35"/>
                  </a:solidFill>
                  <a:latin typeface="Cambria Bold"/>
                  <a:ea typeface="Cambria Bold"/>
                  <a:cs typeface="Cambria Bold"/>
                  <a:sym typeface="Cambria Bold"/>
                </a:rPr>
                <a:t>TEAM CONTRIBUTION</a:t>
              </a:r>
            </a:p>
          </p:txBody>
        </p:sp>
      </p:grpSp>
      <p:grpSp>
        <p:nvGrpSpPr>
          <p:cNvPr name="Group 22" id="22"/>
          <p:cNvGrpSpPr/>
          <p:nvPr/>
        </p:nvGrpSpPr>
        <p:grpSpPr>
          <a:xfrm rot="0">
            <a:off x="678656" y="472916"/>
            <a:ext cx="3923347" cy="1248727"/>
            <a:chOff x="0" y="0"/>
            <a:chExt cx="5231130" cy="1664970"/>
          </a:xfrm>
        </p:grpSpPr>
        <p:sp>
          <p:nvSpPr>
            <p:cNvPr name="Freeform 23" id="23"/>
            <p:cNvSpPr/>
            <p:nvPr/>
          </p:nvSpPr>
          <p:spPr>
            <a:xfrm flipH="false" flipV="false" rot="0">
              <a:off x="0" y="0"/>
              <a:ext cx="5231130" cy="1664970"/>
            </a:xfrm>
            <a:custGeom>
              <a:avLst/>
              <a:gdLst/>
              <a:ahLst/>
              <a:cxnLst/>
              <a:rect r="r" b="b" t="t" l="l"/>
              <a:pathLst>
                <a:path h="1664970" w="523113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name="Group 24" id="24"/>
          <p:cNvGrpSpPr/>
          <p:nvPr/>
        </p:nvGrpSpPr>
        <p:grpSpPr>
          <a:xfrm rot="0">
            <a:off x="898112" y="678656"/>
            <a:ext cx="960692" cy="837248"/>
            <a:chOff x="0" y="0"/>
            <a:chExt cx="1280922" cy="1116330"/>
          </a:xfrm>
        </p:grpSpPr>
        <p:sp>
          <p:nvSpPr>
            <p:cNvPr name="Freeform 25" id="25"/>
            <p:cNvSpPr/>
            <p:nvPr/>
          </p:nvSpPr>
          <p:spPr>
            <a:xfrm flipH="false" flipV="false" rot="0">
              <a:off x="0" y="0"/>
              <a:ext cx="1280922" cy="1116330"/>
            </a:xfrm>
            <a:custGeom>
              <a:avLst/>
              <a:gdLst/>
              <a:ahLst/>
              <a:cxnLst/>
              <a:rect r="r" b="b" t="t" l="l"/>
              <a:pathLst>
                <a:path h="1116330" w="1280922">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name="Group 26" id="26"/>
          <p:cNvGrpSpPr/>
          <p:nvPr/>
        </p:nvGrpSpPr>
        <p:grpSpPr>
          <a:xfrm rot="0">
            <a:off x="1104138" y="822960"/>
            <a:ext cx="548640" cy="548640"/>
            <a:chOff x="0" y="0"/>
            <a:chExt cx="731520" cy="731520"/>
          </a:xfrm>
        </p:grpSpPr>
        <p:sp>
          <p:nvSpPr>
            <p:cNvPr name="Freeform 27" id="27" descr="Team icon"/>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28" id="28"/>
          <p:cNvGrpSpPr/>
          <p:nvPr/>
        </p:nvGrpSpPr>
        <p:grpSpPr>
          <a:xfrm rot="0">
            <a:off x="2057400" y="576072"/>
            <a:ext cx="2441448" cy="1042416"/>
            <a:chOff x="0" y="0"/>
            <a:chExt cx="3255264" cy="1389888"/>
          </a:xfrm>
        </p:grpSpPr>
        <p:sp>
          <p:nvSpPr>
            <p:cNvPr name="Freeform 29" id="29"/>
            <p:cNvSpPr/>
            <p:nvPr/>
          </p:nvSpPr>
          <p:spPr>
            <a:xfrm flipH="false" flipV="false" rot="0">
              <a:off x="0" y="0"/>
              <a:ext cx="3255264" cy="1389888"/>
            </a:xfrm>
            <a:custGeom>
              <a:avLst/>
              <a:gdLst/>
              <a:ahLst/>
              <a:cxnLst/>
              <a:rect r="r" b="b" t="t" l="l"/>
              <a:pathLst>
                <a:path h="1389888" w="3255264">
                  <a:moveTo>
                    <a:pt x="0" y="0"/>
                  </a:moveTo>
                  <a:lnTo>
                    <a:pt x="3255264" y="0"/>
                  </a:lnTo>
                  <a:lnTo>
                    <a:pt x="3255264" y="1389888"/>
                  </a:lnTo>
                  <a:lnTo>
                    <a:pt x="0" y="1389888"/>
                  </a:lnTo>
                  <a:close/>
                </a:path>
              </a:pathLst>
            </a:custGeom>
            <a:blipFill>
              <a:blip r:embed="rId4">
                <a:alphaModFix amt="0"/>
              </a:blip>
              <a:stretch>
                <a:fillRect l="-4781" t="0" r="-4781" b="0"/>
              </a:stretch>
            </a:blipFill>
          </p:spPr>
        </p:sp>
        <p:sp>
          <p:nvSpPr>
            <p:cNvPr name="TextBox 30" id="30"/>
            <p:cNvSpPr txBox="true"/>
            <p:nvPr/>
          </p:nvSpPr>
          <p:spPr>
            <a:xfrm>
              <a:off x="0" y="-28575"/>
              <a:ext cx="3255264" cy="1418463"/>
            </a:xfrm>
            <a:prstGeom prst="rect">
              <a:avLst/>
            </a:prstGeom>
          </p:spPr>
          <p:txBody>
            <a:bodyPr anchor="ctr" rtlCol="false" tIns="0" lIns="0" bIns="0" rIns="0"/>
            <a:lstStyle/>
            <a:p>
              <a:pPr algn="l">
                <a:lnSpc>
                  <a:spcPts val="1620"/>
                </a:lnSpc>
              </a:pPr>
              <a:r>
                <a:rPr lang="en-US" b="true" sz="1350" spc="449">
                  <a:solidFill>
                    <a:srgbClr val="5B6F6B"/>
                  </a:solidFill>
                  <a:latin typeface="Calibri (MS) Bold"/>
                  <a:ea typeface="Calibri (MS) Bold"/>
                  <a:cs typeface="Calibri (MS) Bold"/>
                  <a:sym typeface="Calibri (MS) Bold"/>
                </a:rPr>
                <a:t>TEAM</a:t>
              </a:r>
            </a:p>
            <a:p>
              <a:pPr algn="l">
                <a:lnSpc>
                  <a:spcPts val="2700"/>
                </a:lnSpc>
              </a:pPr>
              <a:r>
                <a:rPr lang="en-US" b="true" sz="2250" spc="749">
                  <a:solidFill>
                    <a:srgbClr val="026855"/>
                  </a:solidFill>
                  <a:latin typeface="Calibri (MS) Bold"/>
                  <a:ea typeface="Calibri (MS) Bold"/>
                  <a:cs typeface="Calibri (MS) Bold"/>
                  <a:sym typeface="Calibri (MS) Bold"/>
                </a:rPr>
                <a:t>Your Team Name</a:t>
              </a:r>
            </a:p>
          </p:txBody>
        </p:sp>
      </p:grpSp>
      <p:grpSp>
        <p:nvGrpSpPr>
          <p:cNvPr name="Group 31" id="31"/>
          <p:cNvGrpSpPr/>
          <p:nvPr/>
        </p:nvGrpSpPr>
        <p:grpSpPr>
          <a:xfrm rot="0">
            <a:off x="822960" y="2194560"/>
            <a:ext cx="685800" cy="593903"/>
            <a:chOff x="0" y="0"/>
            <a:chExt cx="914400" cy="791870"/>
          </a:xfrm>
        </p:grpSpPr>
        <p:sp>
          <p:nvSpPr>
            <p:cNvPr name="Freeform 32" id="32"/>
            <p:cNvSpPr/>
            <p:nvPr/>
          </p:nvSpPr>
          <p:spPr>
            <a:xfrm flipH="false" flipV="false" rot="0">
              <a:off x="0" y="0"/>
              <a:ext cx="914400" cy="791845"/>
            </a:xfrm>
            <a:custGeom>
              <a:avLst/>
              <a:gdLst/>
              <a:ahLst/>
              <a:cxnLst/>
              <a:rect r="r" b="b" t="t" l="l"/>
              <a:pathLst>
                <a:path h="791845" w="914400">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name="Group 33" id="33"/>
          <p:cNvGrpSpPr/>
          <p:nvPr/>
        </p:nvGrpSpPr>
        <p:grpSpPr>
          <a:xfrm rot="0">
            <a:off x="960120" y="2285086"/>
            <a:ext cx="411480" cy="411480"/>
            <a:chOff x="0" y="0"/>
            <a:chExt cx="548640" cy="548640"/>
          </a:xfrm>
        </p:grpSpPr>
        <p:sp>
          <p:nvSpPr>
            <p:cNvPr name="Freeform 34" id="34" descr="Lightbulb icon"/>
            <p:cNvSpPr/>
            <p:nvPr/>
          </p:nvSpPr>
          <p:spPr>
            <a:xfrm flipH="false" flipV="false" rot="0">
              <a:off x="0" y="0"/>
              <a:ext cx="548640" cy="548640"/>
            </a:xfrm>
            <a:custGeom>
              <a:avLst/>
              <a:gdLst/>
              <a:ahLst/>
              <a:cxnLst/>
              <a:rect r="r" b="b" t="t" l="l"/>
              <a:pathLst>
                <a:path h="548640" w="548640">
                  <a:moveTo>
                    <a:pt x="0" y="0"/>
                  </a:moveTo>
                  <a:lnTo>
                    <a:pt x="548640" y="0"/>
                  </a:lnTo>
                  <a:lnTo>
                    <a:pt x="548640" y="548640"/>
                  </a:lnTo>
                  <a:lnTo>
                    <a:pt x="0" y="548640"/>
                  </a:lnTo>
                  <a:lnTo>
                    <a:pt x="0" y="0"/>
                  </a:lnTo>
                  <a:close/>
                </a:path>
              </a:pathLst>
            </a:custGeom>
            <a:blipFill>
              <a:blip r:embed="rId6"/>
              <a:stretch>
                <a:fillRect l="0" t="0" r="0" b="0"/>
              </a:stretch>
            </a:blipFill>
          </p:spPr>
        </p:sp>
      </p:grpSp>
      <p:grpSp>
        <p:nvGrpSpPr>
          <p:cNvPr name="Group 35" id="35"/>
          <p:cNvGrpSpPr/>
          <p:nvPr/>
        </p:nvGrpSpPr>
        <p:grpSpPr>
          <a:xfrm rot="0">
            <a:off x="1755648" y="2125980"/>
            <a:ext cx="14401800" cy="754380"/>
            <a:chOff x="0" y="0"/>
            <a:chExt cx="19202400" cy="1005840"/>
          </a:xfrm>
        </p:grpSpPr>
        <p:sp>
          <p:nvSpPr>
            <p:cNvPr name="Freeform 36" id="36"/>
            <p:cNvSpPr/>
            <p:nvPr/>
          </p:nvSpPr>
          <p:spPr>
            <a:xfrm flipH="false" flipV="false" rot="0">
              <a:off x="0" y="0"/>
              <a:ext cx="19202400" cy="1005840"/>
            </a:xfrm>
            <a:custGeom>
              <a:avLst/>
              <a:gdLst/>
              <a:ahLst/>
              <a:cxnLst/>
              <a:rect r="r" b="b" t="t" l="l"/>
              <a:pathLst>
                <a:path h="1005840" w="19202400">
                  <a:moveTo>
                    <a:pt x="0" y="0"/>
                  </a:moveTo>
                  <a:lnTo>
                    <a:pt x="19202400" y="0"/>
                  </a:lnTo>
                  <a:lnTo>
                    <a:pt x="19202400" y="1005840"/>
                  </a:lnTo>
                  <a:lnTo>
                    <a:pt x="0" y="1005840"/>
                  </a:lnTo>
                  <a:close/>
                </a:path>
              </a:pathLst>
            </a:custGeom>
            <a:blipFill>
              <a:blip r:embed="rId4">
                <a:alphaModFix amt="0"/>
              </a:blip>
              <a:stretch>
                <a:fillRect l="0" t="-321987" r="0" b="-321987"/>
              </a:stretch>
            </a:blipFill>
          </p:spPr>
        </p:sp>
        <p:sp>
          <p:nvSpPr>
            <p:cNvPr name="TextBox 37" id="37"/>
            <p:cNvSpPr txBox="true"/>
            <p:nvPr/>
          </p:nvSpPr>
          <p:spPr>
            <a:xfrm>
              <a:off x="0" y="-57150"/>
              <a:ext cx="19202400" cy="1062990"/>
            </a:xfrm>
            <a:prstGeom prst="rect">
              <a:avLst/>
            </a:prstGeom>
          </p:spPr>
          <p:txBody>
            <a:bodyPr anchor="ctr" rtlCol="false" tIns="0" lIns="0" bIns="0" rIns="0"/>
            <a:lstStyle/>
            <a:p>
              <a:pPr algn="l">
                <a:lnSpc>
                  <a:spcPts val="3240"/>
                </a:lnSpc>
              </a:pPr>
              <a:r>
                <a:rPr lang="en-US" sz="2700" b="true">
                  <a:solidFill>
                    <a:srgbClr val="094542"/>
                  </a:solidFill>
                  <a:latin typeface="Calibri (MS) Bold"/>
                  <a:ea typeface="Calibri (MS) Bold"/>
                  <a:cs typeface="Calibri (MS) Bold"/>
                  <a:sym typeface="Calibri (MS) Bold"/>
                </a:rPr>
                <a:t>Who will handle which part of the execution</a:t>
              </a:r>
            </a:p>
          </p:txBody>
        </p:sp>
      </p:grpSp>
      <p:graphicFrame>
        <p:nvGraphicFramePr>
          <p:cNvPr name="Table 38" id="38"/>
          <p:cNvGraphicFramePr>
            <a:graphicFrameLocks noGrp="true"/>
          </p:cNvGraphicFramePr>
          <p:nvPr/>
        </p:nvGraphicFramePr>
        <p:xfrm>
          <a:off x="822960" y="3291840"/>
          <a:ext cx="16611600" cy="5162550"/>
        </p:xfrm>
        <a:graphic>
          <a:graphicData uri="http://schemas.openxmlformats.org/drawingml/2006/table">
            <a:tbl>
              <a:tblPr/>
              <a:tblGrid>
                <a:gridCol w="4523337"/>
                <a:gridCol w="3842282"/>
                <a:gridCol w="8245981"/>
              </a:tblGrid>
              <a:tr h="820939">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Team Member</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c>
                  <a:txBody>
                    <a:bodyPr anchor="t" rtlCol="false"/>
                    <a:lstStyle/>
                    <a:p>
                      <a:pPr algn="l">
                        <a:lnSpc>
                          <a:spcPts val="2520"/>
                        </a:lnSpc>
                        <a:defRPr/>
                      </a:pPr>
                      <a:r>
                        <a:rPr lang="en-US" sz="2100" b="true">
                          <a:solidFill>
                            <a:srgbClr val="FFFFFF"/>
                          </a:solidFill>
                          <a:latin typeface="Calibri (MS) Bold"/>
                          <a:ea typeface="Calibri (MS) Bold"/>
                          <a:cs typeface="Calibri (MS) Bold"/>
                          <a:sym typeface="Calibri (MS) Bold"/>
                        </a:rPr>
                        <a:t>Responsibility in Execution</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026855"/>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1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2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3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r h="1085403">
                <a:tc>
                  <a:txBody>
                    <a:bodyPr anchor="t" rtlCol="false"/>
                    <a:lstStyle/>
                    <a:p>
                      <a:pPr algn="l">
                        <a:lnSpc>
                          <a:spcPts val="2520"/>
                        </a:lnSpc>
                        <a:defRPr/>
                      </a:pPr>
                      <a:r>
                        <a:rPr lang="en-US" sz="2100" b="true">
                          <a:solidFill>
                            <a:srgbClr val="0E2A2F"/>
                          </a:solidFill>
                          <a:latin typeface="Calibri (MS) Bold"/>
                          <a:ea typeface="Calibri (MS) Bold"/>
                          <a:cs typeface="Calibri (MS) Bold"/>
                          <a:sym typeface="Calibri (MS) Bold"/>
                        </a:rPr>
                        <a:t>Member 4 name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Role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c>
                  <a:txBody>
                    <a:bodyPr anchor="t" rtlCol="false"/>
                    <a:lstStyle/>
                    <a:p>
                      <a:pPr algn="l">
                        <a:lnSpc>
                          <a:spcPts val="2520"/>
                        </a:lnSpc>
                        <a:defRPr/>
                      </a:pPr>
                      <a:r>
                        <a:rPr lang="en-US" sz="2100">
                          <a:solidFill>
                            <a:srgbClr val="5B6F6B"/>
                          </a:solidFill>
                          <a:latin typeface="Calibri (MS)"/>
                          <a:ea typeface="Calibri (MS)"/>
                          <a:cs typeface="Calibri (MS)"/>
                          <a:sym typeface="Calibri (MS)"/>
                        </a:rPr>
                        <a:t>What they will handle</a:t>
                      </a:r>
                      <a:endParaRPr lang="en-US" sz="1100"/>
                    </a:p>
                  </a:txBody>
                  <a:tcPr marL="182880" marR="182880" marT="182880" marB="182880" anchor="ctr">
                    <a:lnL cmpd="sng" algn="ctr" cap="flat" w="9525">
                      <a:solidFill>
                        <a:srgbClr val="D3E6DD"/>
                      </a:solidFill>
                      <a:prstDash val="solid"/>
                      <a:round/>
                      <a:headEnd type="none" w="med" len="med"/>
                      <a:tailEnd type="none" w="med" len="med"/>
                    </a:lnL>
                    <a:lnR cmpd="sng" algn="ctr" cap="flat" w="9525">
                      <a:solidFill>
                        <a:srgbClr val="D3E6DD"/>
                      </a:solidFill>
                      <a:prstDash val="solid"/>
                      <a:round/>
                      <a:headEnd type="none" w="med" len="med"/>
                      <a:tailEnd type="none" w="med" len="med"/>
                    </a:lnR>
                    <a:lnT cmpd="sng" algn="ctr" cap="flat" w="9525">
                      <a:solidFill>
                        <a:srgbClr val="D3E6DD"/>
                      </a:solidFill>
                      <a:prstDash val="solid"/>
                      <a:round/>
                      <a:headEnd type="none" w="med" len="med"/>
                      <a:tailEnd type="none" w="med" len="med"/>
                    </a:lnT>
                    <a:lnB cmpd="sng" algn="ctr" cap="flat" w="9525">
                      <a:solidFill>
                        <a:srgbClr val="D3E6DD"/>
                      </a:solidFill>
                      <a:prstDash val="solid"/>
                      <a:round/>
                      <a:headEnd type="none" w="med" len="med"/>
                      <a:tailEnd type="none" w="med" len="med"/>
                    </a:lnB>
                    <a:solidFill>
                      <a:srgbClr val="FFFFFF"/>
                    </a:solidFill>
                  </a:tcPr>
                </a:tc>
              </a:tr>
            </a:tbl>
          </a:graphicData>
        </a:graphic>
      </p:graphicFrame>
      <p:grpSp>
        <p:nvGrpSpPr>
          <p:cNvPr name="Group 39" id="39"/>
          <p:cNvGrpSpPr/>
          <p:nvPr/>
        </p:nvGrpSpPr>
        <p:grpSpPr>
          <a:xfrm rot="0">
            <a:off x="16888511" y="9614916"/>
            <a:ext cx="685800" cy="593903"/>
            <a:chOff x="0" y="0"/>
            <a:chExt cx="914400" cy="791870"/>
          </a:xfrm>
        </p:grpSpPr>
        <p:sp>
          <p:nvSpPr>
            <p:cNvPr name="Freeform 40" id="40"/>
            <p:cNvSpPr/>
            <p:nvPr/>
          </p:nvSpPr>
          <p:spPr>
            <a:xfrm flipH="false" flipV="false" rot="0">
              <a:off x="0" y="0"/>
              <a:ext cx="914400" cy="791870"/>
            </a:xfrm>
            <a:custGeom>
              <a:avLst/>
              <a:gdLst/>
              <a:ahLst/>
              <a:cxnLst/>
              <a:rect r="r" b="b" t="t" l="l"/>
              <a:pathLst>
                <a:path h="791870" w="914400">
                  <a:moveTo>
                    <a:pt x="0" y="0"/>
                  </a:moveTo>
                  <a:lnTo>
                    <a:pt x="914400" y="0"/>
                  </a:lnTo>
                  <a:lnTo>
                    <a:pt x="914400" y="791870"/>
                  </a:lnTo>
                  <a:lnTo>
                    <a:pt x="0" y="791870"/>
                  </a:lnTo>
                  <a:close/>
                </a:path>
              </a:pathLst>
            </a:custGeom>
            <a:blipFill>
              <a:blip r:embed="rId4">
                <a:alphaModFix amt="0"/>
              </a:blip>
              <a:stretch>
                <a:fillRect l="-61110" t="0" r="-61110" b="0"/>
              </a:stretch>
            </a:blipFill>
          </p:spPr>
        </p:sp>
        <p:sp>
          <p:nvSpPr>
            <p:cNvPr name="TextBox 41" id="41"/>
            <p:cNvSpPr txBox="true"/>
            <p:nvPr/>
          </p:nvSpPr>
          <p:spPr>
            <a:xfrm>
              <a:off x="0" y="-28575"/>
              <a:ext cx="914400" cy="820445"/>
            </a:xfrm>
            <a:prstGeom prst="rect">
              <a:avLst/>
            </a:prstGeom>
          </p:spPr>
          <p:txBody>
            <a:bodyPr anchor="ctr" rtlCol="false" tIns="0" lIns="0" bIns="0" rIns="0"/>
            <a:lstStyle/>
            <a:p>
              <a:pPr algn="ctr">
                <a:lnSpc>
                  <a:spcPts val="1980"/>
                </a:lnSpc>
              </a:pPr>
              <a:r>
                <a:rPr lang="en-US" sz="1650" b="true">
                  <a:solidFill>
                    <a:srgbClr val="052B35"/>
                  </a:solidFill>
                  <a:latin typeface="Calibri (MS) Bold"/>
                  <a:ea typeface="Calibri (MS) Bold"/>
                  <a:cs typeface="Calibri (MS) Bold"/>
                  <a:sym typeface="Calibri (MS) Bold"/>
                </a:rPr>
                <a:t>9</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DAHXhYUW6lU</dc:identifier>
  <dcterms:modified xsi:type="dcterms:W3CDTF">2011-08-01T06:04:30Z</dcterms:modified>
  <cp:revision>1</cp:revision>
  <dc:title>Genesis_PreIdeathon_Template.pptx</dc:title>
</cp:coreProperties>
</file>